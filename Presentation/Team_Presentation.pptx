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Say this first. This deck is use case 5 from the Sprint 2 runbook, page 5. The full name is Enterprise ERP / Shared Services — Procure-to-Pay Exception and Payment Control. Shared services is the team that pays suppliers for the company. ERP is the system that stores those buy and pay records.</a:t>
            </a:r>
          </a:p>
          <a:p>
            <a:pPr>
              <a:spcAft>
                <a:spcPts val="1000"/>
              </a:spcAft>
            </a:pPr>
            <a:r>
              <a:rPr sz="1400">
                <a:solidFill>
                  <a:srgbClr val="1C2833"/>
                </a:solidFill>
                <a:latin typeface="Calibri"/>
              </a:rPr>
              <a:t>The event we score is one supplier invoice. The question on that invoice is whether it can go on to payment.</a:t>
            </a:r>
          </a:p>
          <a:p>
            <a:pPr>
              <a:spcAft>
                <a:spcPts val="1000"/>
              </a:spcAft>
            </a:pPr>
            <a:r>
              <a:rPr sz="1400">
                <a:solidFill>
                  <a:srgbClr val="1C2833"/>
                </a:solidFill>
                <a:latin typeface="Calibri"/>
              </a:rPr>
              <a:t>Payment is the step that cannot be undone. In the inherited files, invoice INV-1001 and invoice INV-1002 are already paid. Each amount is 9,800 USD. The supplier id is V-201. The purchase order is PO-7001. A purchase order is the company’s official buy record. A later rule change does not pull those two payments back.</a:t>
            </a:r>
          </a:p>
          <a:p>
            <a:pPr>
              <a:spcAft>
                <a:spcPts val="1000"/>
              </a:spcAft>
            </a:pPr>
            <a:r>
              <a:rPr sz="1400">
                <a:solidFill>
                  <a:srgbClr val="1C2833"/>
                </a:solidFill>
                <a:latin typeface="Calibri"/>
              </a:rPr>
              <a:t>The same packet holds a bank-account change called CH-88. On 11 August 2026 at 13:44, user U22 asked to change supplier V-311’s bank account from XXXX1122 to XXXX9988. User U22 also approved that change. The next day two invoices arrived. INV-1003 and INV-1004 are 4,950 USD each. Neither row has a purchase order.</a:t>
            </a:r>
          </a:p>
          <a:p>
            <a:pPr>
              <a:spcAft>
                <a:spcPts val="1000"/>
              </a:spcAft>
            </a:pPr>
            <a:r>
              <a:rPr sz="1400">
                <a:solidFill>
                  <a:srgbClr val="1C2833"/>
                </a:solidFill>
                <a:latin typeface="Calibri"/>
              </a:rPr>
              <a:t>The hand-back is four folders plus this deck. D1 is the reading of the inherited files. We call that folder the As-Is reading. D2 is the new design, in the folder Repo 2.0. D3 is the product requirements document. D4 is the working app we clicked on 22 September 2026. This presentation walks those four in that order.</a:t>
            </a:r>
          </a:p>
          <a:p>
            <a:pPr>
              <a:spcAft>
                <a:spcPts val="1000"/>
              </a:spcAft>
            </a:pPr>
            <a:r>
              <a:rPr sz="1400">
                <a:solidFill>
                  <a:srgbClr val="1C2833"/>
                </a:solidFill>
                <a:latin typeface="Calibri"/>
              </a:rPr>
              <a:t>Page 4 of the runbook still shows the job in the last column of the table. Deal with manipulation, approval bypass, and suspicious transaction patterns. Keep segregation of duties, evidence, and a person in the path. Segregation of duties means the person who asks for a bank change is a different person from the person who approves it.</a:t>
            </a:r>
          </a:p>
          <a:p>
            <a:pPr>
              <a:spcAft>
                <a:spcPts val="1000"/>
              </a:spcAft>
            </a:pPr>
            <a:r>
              <a:rPr sz="1400">
                <a:solidFill>
                  <a:srgbClr val="1C2833"/>
                </a:solidFill>
                <a:latin typeface="Calibri"/>
              </a:rPr>
              <a:t>If someone asks which facts existed at decision time, answer with the locked list. Invoice id. Supplier id. Whether a purchase order exists. Amount. Currency. Approver. The flag bank_changed_30d, which means the bank account changed in the last 30 days. The named rule version and the named model version. A later label that says the invoice was fraud is absent from these rows.</a:t>
            </a:r>
          </a:p>
          <a:p>
            <a:pPr>
              <a:spcAft>
                <a:spcPts val="1000"/>
              </a:spcAft>
            </a:pPr>
            <a:r>
              <a:rPr sz="1400">
                <a:solidFill>
                  <a:srgbClr val="1C2833"/>
                </a:solidFill>
                <a:latin typeface="Calibri"/>
              </a:rPr>
              <a:t>Worked picture for INV-1003 in the inherited files. At 11:15 on 12 August 2026 the row held supplier V-311, an empty purchase order, 4,950 USD, approver U22, and bank_changed_30d = Y. CH-88 was already stored the day before. The running rule stored NON_PO_UNDER_5000 and result PROCESS. PROCESS is the word the old rule file wrote when it sent the invoice forward.</a:t>
            </a:r>
          </a:p>
          <a:p>
            <a:pPr>
              <a:spcAft>
                <a:spcPts val="1000"/>
              </a:spcAft>
            </a:pPr>
            <a:r>
              <a:rPr sz="1400">
                <a:solidFill>
                  <a:srgbClr val="1C2833"/>
                </a:solidFill>
                <a:latin typeface="Calibri"/>
              </a:rPr>
              <a:t>Source files: Runbook Pages 4-5.pdf, page 5. D1_AsIs_Assessment/00_LOCKED_FACTS.md. D1_AsIs_Assessment/02_CASE_REPLAY.md.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D1 is the reading of the inherited folder. The path is 05_procure_to_pay_exception_repo_1_0. D1 did not edit those files. D1 did not choose which file wins.</a:t>
            </a:r>
          </a:p>
          <a:p>
            <a:pPr>
              <a:spcAft>
                <a:spcPts val="1000"/>
              </a:spcAft>
            </a:pPr>
            <a:r>
              <a:rPr sz="1400">
                <a:solidFill>
                  <a:srgbClr val="1C2833"/>
                </a:solidFill>
                <a:latin typeface="Calibri"/>
              </a:rPr>
              <a:t>Conflict C-01. One file, approval_matrix.csv, stores amount 5,000 and the role AP_SUPERVISOR. AP means accounts payable. A second file, exception_rules.yaml, says: if the purchase order is empty and the amount is under 5,000, the result is PROCESS. INV-1003 is 4,950 USD with an empty purchase order, so that rule fired. The invoice file stores status APPROVED. The log stores PROCESS. D1 records both files. D1 does not decide whether 4,950 needs the supervisor.</a:t>
            </a:r>
          </a:p>
          <a:p>
            <a:pPr>
              <a:spcAft>
                <a:spcPts val="1000"/>
              </a:spcAft>
            </a:pPr>
            <a:r>
              <a:rPr sz="1400">
                <a:solidFill>
                  <a:srgbClr val="1C2833"/>
                </a:solidFill>
                <a:latin typeface="Calibri"/>
              </a:rPr>
              <a:t>Conflict C-02. The business problem note says finance has seen invoice splitting. Splitting means two invoices that each sit under a limit and together sit over it. The rule file lists “no split-invoice aggregation” under its gaps. Aggregation would mean adding the invoices before the decision. INV-1003 at 11:15 and INV-1004 at 11:16 are 4,950 USD each. Together they are 9,900. Each one took PROCESS on its own.</a:t>
            </a:r>
          </a:p>
          <a:p>
            <a:pPr>
              <a:spcAft>
                <a:spcPts val="1000"/>
              </a:spcAft>
            </a:pPr>
            <a:r>
              <a:rPr sz="1400">
                <a:solidFill>
                  <a:srgbClr val="1C2833"/>
                </a:solidFill>
                <a:latin typeface="Calibri"/>
              </a:rPr>
              <a:t>Conflict C-03. The risk note names a conflict when the same person requests and approves. Control P2P-03, segregation of duties, is owned by Finance Controls and the status is Manual. CH-88 requested_by U22 and approved_by U22, and the audit line stores SUCCESS. The rule file lists “no requester/approver conflict rule” under its gaps. A contrast row exists: CH-89 was requested by U18 and approved by U19.</a:t>
            </a:r>
          </a:p>
          <a:p>
            <a:pPr>
              <a:spcAft>
                <a:spcPts val="1000"/>
              </a:spcAft>
            </a:pPr>
            <a:r>
              <a:rPr sz="1400">
                <a:solidFill>
                  <a:srgbClr val="1C2833"/>
                </a:solidFill>
                <a:latin typeface="Calibri"/>
              </a:rPr>
              <a:t>There is a fourth conflict in the register, C-04. Say it if someone asks about the model number. The model card stores accuracy 0.94 on p2p-risk-2. The evaluation file also stores a false-positive rate of 0.24 on that version and 0.18 on p2p-risk-1. False-positive rate is the share of good invoices the model flags. Precision and recall on version 2 are blank. The slide leads with the three payment conflicts. The metric answer is in the notes for the next design slide and in DEFENCE.md question 2.</a:t>
            </a:r>
          </a:p>
          <a:p>
            <a:pPr>
              <a:spcAft>
                <a:spcPts val="1000"/>
              </a:spcAft>
            </a:pPr>
            <a:r>
              <a:rPr sz="1400">
                <a:solidFill>
                  <a:srgbClr val="1C2833"/>
                </a:solidFill>
                <a:latin typeface="Calibri"/>
              </a:rPr>
              <a:t>Control P2P-05. The control matrix row says Immutable payment decision evidence, owner TBD, status Missing. Immutable means the record cannot be overwritten or deleted for the keep period. The audit file has two lines. One is CH-88 result SUCCESS. One is INV-1003 action PROCESS. A printed line is not that control. D1 copied the status Missing. D1 did not invent an owner.</a:t>
            </a:r>
          </a:p>
          <a:p>
            <a:pPr>
              <a:spcAft>
                <a:spcPts val="1000"/>
              </a:spcAft>
            </a:pPr>
            <a:r>
              <a:rPr sz="1400">
                <a:solidFill>
                  <a:srgbClr val="1C2833"/>
                </a:solidFill>
                <a:latin typeface="Calibri"/>
              </a:rPr>
              <a:t>Source files: D1_AsIs_Assessment/03_CONFLICT_REGISTER.md. D1_AsIs_Assessment/04_MISSING_CONTROLS.md.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Repo 2.0 is the design. It does not edit the inherited folder and it does not edit D1. The runbook lists ten steps in one order. People sometimes call that list the spine. Each step is one part of the work, from the decision through the tests. Repo 2.0 has one markdown file for each step.</a:t>
            </a:r>
          </a:p>
          <a:p>
            <a:pPr>
              <a:spcAft>
                <a:spcPts val="1000"/>
              </a:spcAft>
            </a:pPr>
            <a:r>
              <a:rPr sz="1400">
                <a:solidFill>
                  <a:srgbClr val="1C2833"/>
                </a:solidFill>
                <a:latin typeface="Calibri"/>
              </a:rPr>
              <a:t>Step 1 names the decision. The outcome words are APPROVE, REVIEW, and REJECT. PROCESS is the old result word. This design stops using PROCESS as an outcome. Written rules pick the outcome. The model only ranks the invoice. A named person releases the payment.</a:t>
            </a:r>
          </a:p>
          <a:p>
            <a:pPr>
              <a:spcAft>
                <a:spcPts val="1000"/>
              </a:spcAft>
            </a:pPr>
            <a:r>
              <a:rPr sz="1400">
                <a:solidFill>
                  <a:srgbClr val="1C2833"/>
                </a:solidFill>
                <a:latin typeface="Calibri"/>
              </a:rPr>
              <a:t>Step 2 keeps the packet numbers. Two paid invoices at 9,800 USD. Alias ids V-201 and V201. An alias is a second id for the same supplier. CH-88 sits the day before INV-1003.</a:t>
            </a:r>
          </a:p>
          <a:p>
            <a:pPr>
              <a:spcAft>
                <a:spcPts val="1000"/>
              </a:spcAft>
            </a:pPr>
            <a:r>
              <a:rPr sz="1400">
                <a:solidFill>
                  <a:srgbClr val="1C2833"/>
                </a:solidFill>
                <a:latin typeface="Calibri"/>
              </a:rPr>
              <a:t>Step 3 is the metric answer. The numbers we report are precision, recall, and false-positive rate. Precision is the share of flagged invoices that were later confirmed bad. Recall is the share of bad invoices the model flagged. False-positive rate is the share of good invoices the model flags. Version p2p-risk-1 stores precision 0.52, recall 0.71, and false-positive rate 0.18. Version p2p-risk-2 stores false-positive rate 0.24. Precision and recall on version 2 are blank. The evaluation file also stores accuracy 0.91 on version 1 and 0.94 on version 2. Those two cells stay as copied facts. We lead with the false-positive rate because version 2 flags more good invoices: 0.24 compared with 0.18. Later we also want PR-AUC. PR-AUC is a ranking score that pays extra attention to the rare bad class. PR-AUC is Missing from the evaluation file. This packet has four invoices. Training on a large labelled set is a later job.</a:t>
            </a:r>
          </a:p>
          <a:p>
            <a:pPr>
              <a:spcAft>
                <a:spcPts val="1000"/>
              </a:spcAft>
            </a:pPr>
            <a:r>
              <a:rPr sz="1400">
                <a:solidFill>
                  <a:srgbClr val="1C2833"/>
                </a:solidFill>
                <a:latin typeface="Calibri"/>
              </a:rPr>
              <a:t>Step 4 joins V-201 and V201 to one official supplier id. If the document read is uncertain, the case goes to a person.</a:t>
            </a:r>
          </a:p>
          <a:p>
            <a:pPr>
              <a:spcAft>
                <a:spcPts val="1000"/>
              </a:spcAft>
            </a:pPr>
            <a:r>
              <a:rPr sz="1400">
                <a:solidFill>
                  <a:srgbClr val="1C2833"/>
                </a:solidFill>
                <a:latin typeface="Calibri"/>
              </a:rPr>
              <a:t>Step 5 connects CH-88 to the invoices that arrive after it. Pay and Notify use a key made from the invoice id plus the step name. A second click with the same key returns the first result.</a:t>
            </a:r>
          </a:p>
          <a:p>
            <a:pPr>
              <a:spcAft>
                <a:spcPts val="1000"/>
              </a:spcAft>
            </a:pPr>
            <a:r>
              <a:rPr sz="1400">
                <a:solidFill>
                  <a:srgbClr val="1C2833"/>
                </a:solidFill>
                <a:latin typeface="Calibri"/>
              </a:rPr>
              <a:t>Step 6 sends three situations to REVIEW. An empty purchase order. A bank change where requester and approver are the same user. The named pair INV-1003 and INV-1004.</a:t>
            </a:r>
          </a:p>
          <a:p>
            <a:pPr>
              <a:spcAft>
                <a:spcPts val="1000"/>
              </a:spcAft>
            </a:pPr>
            <a:r>
              <a:rPr sz="1400">
                <a:solidFill>
                  <a:srgbClr val="1C2833"/>
                </a:solidFill>
                <a:latin typeface="Calibri"/>
              </a:rPr>
              <a:t>Step 7 puts Agree, Disagree, and Override on one screen, with equal weight. A supplier or an analyst can also contest the outcome later.</a:t>
            </a:r>
          </a:p>
          <a:p>
            <a:pPr>
              <a:spcAft>
                <a:spcPts val="1000"/>
              </a:spcAft>
            </a:pPr>
            <a:r>
              <a:rPr sz="1400">
                <a:solidFill>
                  <a:srgbClr val="1C2833"/>
                </a:solidFill>
                <a:latin typeface="Calibri"/>
              </a:rPr>
              <a:t>Step 8 writes the audit row first. Payment status changes only after that write. The owner of P2P-05 is still TBD.</a:t>
            </a:r>
          </a:p>
          <a:p>
            <a:pPr>
              <a:spcAft>
                <a:spcPts val="1000"/>
              </a:spcAft>
            </a:pPr>
            <a:r>
              <a:rPr sz="1400">
                <a:solidFill>
                  <a:srgbClr val="1C2833"/>
                </a:solidFill>
                <a:latin typeface="Calibri"/>
              </a:rPr>
              <a:t>Step 9 tells operations which counts to watch. False-positive rate. How often a person overrides the recommendation. How often the scorer is down. Whether paid cases have an audit row written first.</a:t>
            </a:r>
          </a:p>
          <a:p>
            <a:pPr>
              <a:spcAft>
                <a:spcPts val="1000"/>
              </a:spcAft>
            </a:pPr>
            <a:r>
              <a:rPr sz="1400">
                <a:solidFill>
                  <a:srgbClr val="1C2833"/>
                </a:solidFill>
                <a:latin typeface="Calibri"/>
              </a:rPr>
              <a:t>Step 10 leaves two old tests visible. “Missing PO under threshold” still passed while INV-1003 and INV-1004 took PROCESS. “Exact invoice-number duplicate” still passed while INV-1002 was marked NO_DUPLICATE. New dollar limits stay unset. The label for an unset number is THRESHOLD_UNSET. That means a later decision note must name an owner before anyone codes the number.</a:t>
            </a:r>
          </a:p>
          <a:p>
            <a:pPr>
              <a:spcAft>
                <a:spcPts val="1000"/>
              </a:spcAft>
            </a:pPr>
            <a:r>
              <a:rPr sz="1400">
                <a:solidFill>
                  <a:srgbClr val="1C2833"/>
                </a:solidFill>
                <a:latin typeface="Calibri"/>
              </a:rPr>
              <a:t>Source files: Repo_2_0/README.md. Repo_2_0/C8_CHECK.md. D3_PRD/PRD.md section 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D3 is the product requirements document. The version is D3a. The file is D3_PRD/PRD.md. The app is allowed to implement this document. The app is not allowed to invent a new dollar cutoff.</a:t>
            </a:r>
          </a:p>
          <a:p>
            <a:pPr>
              <a:spcAft>
                <a:spcPts val="1000"/>
              </a:spcAft>
            </a:pPr>
            <a:r>
              <a:rPr sz="1400">
                <a:solidFill>
                  <a:srgbClr val="1C2833"/>
                </a:solidFill>
                <a:latin typeface="Calibri"/>
              </a:rPr>
              <a:t>The outcome names stay APPROVE, REVIEW, and REJECT. Written rules pick the outcome. A named person owns every REVIEW. That person can agree, disagree, or override. A named person releases the payment. The model rank orders the queue. The rank does not set the invoice to paid.</a:t>
            </a:r>
          </a:p>
          <a:p>
            <a:pPr>
              <a:spcAft>
                <a:spcPts val="1000"/>
              </a:spcAft>
            </a:pPr>
            <a:r>
              <a:rPr sz="1400">
                <a:solidFill>
                  <a:srgbClr val="1C2833"/>
                </a:solidFill>
                <a:latin typeface="Calibri"/>
              </a:rPr>
              <a:t>Read the five acceptance cases as the demo contract.</a:t>
            </a:r>
          </a:p>
          <a:p>
            <a:pPr>
              <a:spcAft>
                <a:spcPts val="1000"/>
              </a:spcAft>
            </a:pPr>
            <a:r>
              <a:rPr sz="1400">
                <a:solidFill>
                  <a:srgbClr val="1C2833"/>
                </a:solidFill>
                <a:latin typeface="Calibri"/>
              </a:rPr>
              <a:t>Case 1. Replay INV-1001, then INV-1002. Same supplier V-201, purchase order PO-7001, amount 9,800, currency USD, different invoice ids. In the inherited log, INV-1002 was marked NO_DUPLICATE because the check used the invoice number only. The requirement sends INV-1002 to REVIEW with reason DUP_SUPPLIER_PO_AMOUNT. The recommended outcome is to reject the second payment. INV-1001 stays the invoice that is already paid.</a:t>
            </a:r>
          </a:p>
          <a:p>
            <a:pPr>
              <a:spcAft>
                <a:spcPts val="1000"/>
              </a:spcAft>
            </a:pPr>
            <a:r>
              <a:rPr sz="1400">
                <a:solidFill>
                  <a:srgbClr val="1C2833"/>
                </a:solidFill>
                <a:latin typeface="Calibri"/>
              </a:rPr>
              <a:t>Case 2. Inject a second 9,800 USD invoice on PO-7001 that uses the raw id V201. After the join, that id is the same supplier as V-201. The case goes to REVIEW with reasons for the alias join and the duplicate match. The two display names stay different: Alpha Industrial Supply and Alpha Industries Supply.</a:t>
            </a:r>
          </a:p>
          <a:p>
            <a:pPr>
              <a:spcAft>
                <a:spcPts val="1000"/>
              </a:spcAft>
            </a:pPr>
            <a:r>
              <a:rPr sz="1400">
                <a:solidFill>
                  <a:srgbClr val="1C2833"/>
                </a:solidFill>
                <a:latin typeface="Calibri"/>
              </a:rPr>
              <a:t>Case 3. CH-88 at 11 August 2026 13:44, requester U22, approver U22, bank XXXX1122 to XXXX9988. Then INV-1003 at 11:15 and INV-1004 at 11:16 on 12 August, empty purchase order, 4,950 plus 4,950 equals 9,900, bank_changed_30d = Y. Both invoices go to REVIEW. Payment does not run. The audit row stores the change id, the sibling pair, the sum 9,900, and the reason codes NON_PO, BANK_CHANGE_LINKED, SOD_SAME_USER_BANK, and SPLIT_SIBLING_SUM. SOD means segregation of duties. CH-88 stays held for a person. The change does not apply itself.</a:t>
            </a:r>
          </a:p>
          <a:p>
            <a:pPr>
              <a:spcAft>
                <a:spcPts val="1000"/>
              </a:spcAft>
            </a:pPr>
            <a:r>
              <a:rPr sz="1400">
                <a:solidFill>
                  <a:srgbClr val="1C2833"/>
                </a:solidFill>
                <a:latin typeface="Calibri"/>
              </a:rPr>
              <a:t>Case 4. Stop the scorer. Outcome REVIEW. The rank field is empty. The reason is SCORER_UNSCORED. The failure path stores an empty score. It does not store 0.</a:t>
            </a:r>
          </a:p>
          <a:p>
            <a:pPr>
              <a:spcAft>
                <a:spcPts val="1000"/>
              </a:spcAft>
            </a:pPr>
            <a:r>
              <a:rPr sz="1400">
                <a:solidFill>
                  <a:srgbClr val="1C2833"/>
                </a:solidFill>
                <a:latin typeface="Calibri"/>
              </a:rPr>
              <a:t>Case 5. On a case that reached APPROVE, call payment twice with the key invoice-id plus the word payment. The payment count stays 1. Do not use INV-1002 for this proof. INV-1002 is REVIEW and does not pay.</a:t>
            </a:r>
          </a:p>
          <a:p>
            <a:pPr>
              <a:spcAft>
                <a:spcPts val="1000"/>
              </a:spcAft>
            </a:pPr>
            <a:r>
              <a:rPr sz="1400">
                <a:solidFill>
                  <a:srgbClr val="1C2833"/>
                </a:solidFill>
                <a:latin typeface="Calibri"/>
              </a:rPr>
              <a:t>Every new numeric limit stays THRESHOLD_UNSET until a later note, called an Architecture Decision Record, names an owner. An Architecture Decision Record is a short written choice: the number, the owner, and why. Until that note exists, the demo still reaches REVIEW with rules that need no new number. Same-user bank change. The named pair INV-1003 and INV-1004. Empty purchase order. Duplicate match. Scorer down.</a:t>
            </a:r>
          </a:p>
          <a:p>
            <a:pPr>
              <a:spcAft>
                <a:spcPts val="1000"/>
              </a:spcAft>
            </a:pPr>
            <a:r>
              <a:rPr sz="1400">
                <a:solidFill>
                  <a:srgbClr val="1C2833"/>
                </a:solidFill>
                <a:latin typeface="Calibri"/>
              </a:rPr>
              <a:t>The two old tests were left visible until this document closed them. Empty purchase order goes to REVIEW. That is acceptance case P2P-AC-008. The duplicate match uses supplier, purchase order, amount, and currency. That is P2P-AC-001. A numeric window for “which other invoices count as siblings” is still unset. The sibling pair in force is only INV-1003 and INV-1004.</a:t>
            </a:r>
          </a:p>
          <a:p>
            <a:pPr>
              <a:spcAft>
                <a:spcPts val="1000"/>
              </a:spcAft>
            </a:pPr>
            <a:r>
              <a:rPr sz="1400">
                <a:solidFill>
                  <a:srgbClr val="1C2833"/>
                </a:solidFill>
                <a:latin typeface="Calibri"/>
              </a:rPr>
              <a:t>Source file: D3_PRD/PRD.md, sections 3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D4 is the working app. The click notes are from 22 September 2026 on the local app at http://localhost:3000. The hosted Google AI Studio address asked for a Google sign-in, so that hosted page is not the evidence. The model shown in the footer was p2p-risk-2. The rule pack shown on Score + Decide was p2p-rules-v2.0. The requirements version in the footer was D3a.</a:t>
            </a:r>
          </a:p>
          <a:p>
            <a:pPr>
              <a:spcAft>
                <a:spcPts val="1000"/>
              </a:spcAft>
            </a:pPr>
            <a:r>
              <a:rPr sz="1400">
                <a:solidFill>
                  <a:srgbClr val="1C2833"/>
                </a:solidFill>
                <a:latin typeface="Calibri"/>
              </a:rPr>
              <a:t>Walk the path in order so a listener can picture the screens. Ingest selects the invoice. Extract shows the fields: invoice id, supplier, purchase order, amount, currency, approver, the bank-change flag, and a read confidence. Verify checks that the supplier id is consistent. Detect shows duplicate, sibling, and purchase-order checks, plus a rank. Score + Decide applies the written rules and shows which rule ids fired. Review is the human queue. Notify shows the notice payload. Pay runs only after APPROVE. Case History shows the audit row.</a:t>
            </a:r>
          </a:p>
          <a:p>
            <a:pPr>
              <a:spcAft>
                <a:spcPts val="1000"/>
              </a:spcAft>
            </a:pPr>
            <a:r>
              <a:rPr sz="1400">
                <a:solidFill>
                  <a:srgbClr val="1C2833"/>
                </a:solidFill>
                <a:latin typeface="Calibri"/>
              </a:rPr>
              <a:t>Duplicate. On INV-1002, Detect flagged a match to INV-1001. The match key was V-201, PO-7001, 9800. The invoice ids differ. Score + Decide stored outcome REVIEW and recommended REJECT. Rule R-DUP. Reasons DUP_SUPPLIER_PO_AMOUNT and POLICY_REVIEW. The Pay screen said PAYMENT LOCKED. Payment count stayed 0. PASS.</a:t>
            </a:r>
          </a:p>
          <a:p>
            <a:pPr>
              <a:spcAft>
                <a:spcPts val="1000"/>
              </a:spcAft>
            </a:pPr>
            <a:r>
              <a:rPr sz="1400">
                <a:solidFill>
                  <a:srgbClr val="1C2833"/>
                </a:solidFill>
                <a:latin typeface="Calibri"/>
              </a:rPr>
              <a:t>Alias. The button Inject V201 Alias created INV-1006-ALIAS at 9,800 USD. Verify showed raw id V201 and official id V-201. Score + Decide stored REVIEW with rules R-DUP and R-ALIAS. PASS. The rank line on that injected invoice carried the badge SIMULATED. SIMULATED means a stand-in for a service this packet does not call.</a:t>
            </a:r>
          </a:p>
          <a:p>
            <a:pPr>
              <a:spcAft>
                <a:spcPts val="1000"/>
              </a:spcAft>
            </a:pPr>
            <a:r>
              <a:rPr sz="1400">
                <a:solidFill>
                  <a:srgbClr val="1C2833"/>
                </a:solidFill>
                <a:latin typeface="Calibri"/>
              </a:rPr>
              <a:t>Bank change. INV-1003 Verify showed CH-88, requester U22, approver U22, status HELD_FOR_REVIEW, masked account XXXX9988. Detect showed sibling INV-1004 and pair sum 9,900 USD. Both invoices stored REVIEW, recommended REJECT, rules R-SOD-BANK, R-BANK-SPLIT, and R-NONPO. On Review, three buttons had equal weight: Agree REJECT, Disagree and set APPROVE, and Manager Override. Clearing the name and clicking Disagree stayed on Review. The message said a reviewer account name is required. Typing Ada and clicking Disagree set the case list to APPROVE and moved to Notify. Notify count was 0 at that moment. PASS.</a:t>
            </a:r>
          </a:p>
          <a:p>
            <a:pPr>
              <a:spcAft>
                <a:spcPts val="1000"/>
              </a:spcAft>
            </a:pPr>
            <a:r>
              <a:rPr sz="1400">
                <a:solidFill>
                  <a:srgbClr val="1C2833"/>
                </a:solidFill>
                <a:latin typeface="Calibri"/>
              </a:rPr>
              <a:t>Scorer down. INV-1005 started as APPROVE. After the header toggle, Detect showed status UNSCORED, rank NULL, and banner UNSCORED. Score + Decide stored REVIEW with rule R-UNSCORED and reason SCORER_UNSCORED. The notes for that screen record no score of 0. PASS.</a:t>
            </a:r>
          </a:p>
          <a:p>
            <a:pPr>
              <a:spcAft>
                <a:spcPts val="1000"/>
              </a:spcAft>
            </a:pPr>
            <a:r>
              <a:rPr sz="1400">
                <a:solidFill>
                  <a:srgbClr val="1C2833"/>
                </a:solidFill>
                <a:latin typeface="Calibri"/>
              </a:rPr>
              <a:t>Pay twice. This is the retry proof. A second Pay click would write a second payment if there were no key. The key is the invoice id plus the step name. On INV-1005 the count was 0, the first click set it to 1 and status PAID &amp; SETTLED, and the second click kept the count at 1 under key INV-1005:payment. INV-1001 was already paid. Its retry under INV-1001:payment also stayed at 1. Notify on INV-1001 under INV-1001:notify stayed at 1. Those counts are REAL. REAL means this session measured them on the running app. Naive counts and cached counts are Unknown. We did not remove the key check, and the screens did not show a separate cached counter.</a:t>
            </a:r>
          </a:p>
          <a:p>
            <a:pPr>
              <a:spcAft>
                <a:spcPts val="1000"/>
              </a:spcAft>
            </a:pPr>
            <a:r>
              <a:rPr sz="1400">
                <a:solidFill>
                  <a:srgbClr val="1C2833"/>
                </a:solidFill>
                <a:latin typeface="Calibri"/>
              </a:rPr>
              <a:t>The rank on INV-1003 was number 2 of 420. The honesty badge on Detect said PRECOMPUTED. That rank orders the case. It is a classroom order, copied for the demo. The dollar amounts on the case list had no honesty badge.</a:t>
            </a:r>
          </a:p>
          <a:p>
            <a:pPr>
              <a:spcAft>
                <a:spcPts val="1000"/>
              </a:spcAft>
            </a:pPr>
            <a:r>
              <a:rPr sz="1400">
                <a:solidFill>
                  <a:srgbClr val="1C2833"/>
                </a:solidFill>
                <a:latin typeface="Calibri"/>
              </a:rPr>
              <a:t>Source files: D4_App/DEMO_SCRIPT.md. D4_App/TEST_EVIDENCE.md. D4_App/SIDE_EFFECT_COUNTER.md.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Rebuild this case out loud. Use only the row that was on screen.</a:t>
            </a:r>
          </a:p>
          <a:p>
            <a:pPr>
              <a:spcAft>
                <a:spcPts val="1000"/>
              </a:spcAft>
            </a:pPr>
            <a:r>
              <a:rPr sz="1400">
                <a:solidFill>
                  <a:srgbClr val="1C2833"/>
                </a:solidFill>
                <a:latin typeface="Calibri"/>
              </a:rPr>
              <a:t>The case is INV-1003 after reviewer Ada clicked Disagree and set APPROVE. Before that click, Case History for INV-1003 showed 0 audit rows and the text “No audit rows written yet for this case.” After the click, the same screen showed state REVIEWED and 1 audit row.</a:t>
            </a:r>
          </a:p>
          <a:p>
            <a:pPr>
              <a:spcAft>
                <a:spcPts val="1000"/>
              </a:spcAft>
            </a:pPr>
            <a:r>
              <a:rPr sz="1400">
                <a:solidFill>
                  <a:srgbClr val="1C2833"/>
                </a:solidFill>
                <a:latin typeface="Calibri"/>
              </a:rPr>
              <a:t>Actor: Ada. From-state: DECIDED. To-state: REVIEWED. The outcome on the same line is APPROVE. The score text on that line is “#2 of 420 cohort.” Cohort here means the set of invoices the demo uses to show order. The number 420 is the set size shown on screen. Detect, earlier on the same case, showed that same rank and a raw index of 0.96. The honesty badge on Detect was PRECOMPUTED. The Case History notes do not record a separate honesty badge on the history line.</a:t>
            </a:r>
          </a:p>
          <a:p>
            <a:pPr>
              <a:spcAft>
                <a:spcPts val="1000"/>
              </a:spcAft>
            </a:pPr>
            <a:r>
              <a:rPr sz="1400">
                <a:solidFill>
                  <a:srgbClr val="1C2833"/>
                </a:solidFill>
                <a:latin typeface="Calibri"/>
              </a:rPr>
              <a:t>Reasons on the row: NON_PO, BANK_CHANGE_LINKED, SOD_SAME_USER_BANK, SPLIT_SIBLING_SUM, POLICY_REVIEW. NON_PO means the purchase order is empty. BANK_CHANGE_LINKED means a bank change is tied to this invoice. SOD_SAME_USER_BANK means the requester and the approver of that bank change are the same user. SPLIT_SIBLING_SUM means the sibling pair sum is stored. POLICY_REVIEW means the written rules chose REVIEW before the person acted.</a:t>
            </a:r>
          </a:p>
          <a:p>
            <a:pPr>
              <a:spcAft>
                <a:spcPts val="1000"/>
              </a:spcAft>
            </a:pPr>
            <a:r>
              <a:rPr sz="1400">
                <a:solidFill>
                  <a:srgbClr val="1C2833"/>
                </a:solidFill>
                <a:latin typeface="Calibri"/>
              </a:rPr>
              <a:t>Model version: p2p-risk-2. Rule version: p2p-rules-v2.0. The row note says the review closed with disposition disagree and the final outcome is APPROVE.</a:t>
            </a:r>
          </a:p>
          <a:p>
            <a:pPr>
              <a:spcAft>
                <a:spcPts val="1000"/>
              </a:spcAft>
            </a:pPr>
            <a:r>
              <a:rPr sz="1400">
                <a:solidFill>
                  <a:srgbClr val="1C2833"/>
                </a:solidFill>
                <a:latin typeface="Calibri"/>
              </a:rPr>
              <a:t>The recommended outcome before the click was REJECT. Rules on Score + Decide were R-SOD-BANK, R-BANK-SPLIT, and R-NONPO. The paragraph on that screen named CH-88, bank XXXX1122 to XXXX9988, requester and approver U22, sibling INV-1004, and sum 9,900 USD.</a:t>
            </a:r>
          </a:p>
          <a:p>
            <a:pPr>
              <a:spcAft>
                <a:spcPts val="1000"/>
              </a:spcAft>
            </a:pPr>
            <a:r>
              <a:rPr sz="1400">
                <a:solidFill>
                  <a:srgbClr val="1C2833"/>
                </a:solidFill>
                <a:latin typeface="Calibri"/>
              </a:rPr>
              <a:t>Prompt id on the recorded row: Unknown. The Case History notes do not list a prompt id.</a:t>
            </a:r>
          </a:p>
          <a:p>
            <a:pPr>
              <a:spcAft>
                <a:spcPts val="1000"/>
              </a:spcAft>
            </a:pPr>
            <a:r>
              <a:rPr sz="1400">
                <a:solidFill>
                  <a:srgbClr val="1C2833"/>
                </a:solidFill>
                <a:latin typeface="Calibri"/>
              </a:rPr>
              <a:t>Say what this click did to the money. Ada set the outcome to APPROVE. The screen moved to Notify. Notify count was 0. That click did not record a payment. Payment is a later step by a named payer. On a different invoice, INV-1005, the payer field showed Michael Vance (Treasurer), and the first Pay click set status paid. Those demo names were typed on the screen. They are not names stored in the inherited files. Repo 1.0 does not name the person who pressed pay. That role stays Missing until a later note names it.</a:t>
            </a:r>
          </a:p>
          <a:p>
            <a:pPr>
              <a:spcAft>
                <a:spcPts val="1000"/>
              </a:spcAft>
            </a:pPr>
            <a:r>
              <a:rPr sz="1400">
                <a:solidFill>
                  <a:srgbClr val="1C2833"/>
                </a:solidFill>
                <a:latin typeface="Calibri"/>
              </a:rPr>
              <a:t>The inherited audit trail for this invoice was one line: 12 August 2026 at 11:15:03, invoice INV-1003, action PROCESS. That line left out the actor, the from-state, the to-state, the score, the reason codes, the model version, and the rule version. It also said no vendor-change evidence was linked to the payment decision. The D4 row now stores the actor, the two states, the rank text, the five reason codes, the model version, and the rule version. Whether the Case History header showed the change id CH-88 as its own field in this session is Unknown. The click notes did not record that field. Score + Decide did name CH-88 in the paragraph.</a:t>
            </a:r>
          </a:p>
          <a:p>
            <a:pPr>
              <a:spcAft>
                <a:spcPts val="1000"/>
              </a:spcAft>
            </a:pPr>
            <a:r>
              <a:rPr sz="1400">
                <a:solidFill>
                  <a:srgbClr val="1C2833"/>
                </a:solidFill>
                <a:latin typeface="Calibri"/>
              </a:rPr>
              <a:t>Source files: D4_App/TEST_EVIDENCE.md, rebuild check. D4_App/DEMO_SCRIPT.md, the 12:00 Case History section. D1_AsIs_Assessment/01_SPINE_NOTES.md, spine step 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1000"/>
              </a:spcAft>
            </a:pPr>
            <a:r>
              <a:rPr sz="1400">
                <a:solidFill>
                  <a:srgbClr val="1C2833"/>
                </a:solidFill>
                <a:latin typeface="Calibri"/>
              </a:rPr>
              <a:t>Close by naming what we left open. These are not guesses. Each one is Unknown, Missing, or unset because the files do not contain the fact.</a:t>
            </a:r>
          </a:p>
          <a:p>
            <a:pPr>
              <a:spcAft>
                <a:spcPts val="1000"/>
              </a:spcAft>
            </a:pPr>
            <a:r>
              <a:rPr sz="1400">
                <a:solidFill>
                  <a:srgbClr val="1C2833"/>
                </a:solidFill>
                <a:latin typeface="Calibri"/>
              </a:rPr>
              <a:t>Legal scope is Unknown. A change request called CR-REG-01 asks Legal and Finance Controls which statutes and internal policies apply, including sanctions, politically exposed persons, and address checks. A politically exposed person is a person in a public role who needs extra screening. The invoice rows have no country field, so we did not invent a geography feed.</a:t>
            </a:r>
          </a:p>
          <a:p>
            <a:pPr>
              <a:spcAft>
                <a:spcPts val="1000"/>
              </a:spcAft>
            </a:pPr>
            <a:r>
              <a:rPr sz="1400">
                <a:solidFill>
                  <a:srgbClr val="1C2833"/>
                </a:solidFill>
                <a:latin typeface="Calibri"/>
              </a:rPr>
              <a:t>The goods-receipt file is Missing. A goods receipt is the record that the goods arrived. The current-flow note names that step. The data folder has no goods-receipt file. The price catalog is Unknown. The model card lists amount as a feature. The packet has no price list, so Detect does not invent one.</a:t>
            </a:r>
          </a:p>
          <a:p>
            <a:pPr>
              <a:spcAft>
                <a:spcPts val="1000"/>
              </a:spcAft>
            </a:pPr>
            <a:r>
              <a:rPr sz="1400">
                <a:solidFill>
                  <a:srgbClr val="1C2833"/>
                </a:solidFill>
                <a:latin typeface="Calibri"/>
              </a:rPr>
              <a:t>People who must be named later: the person who owns REVIEW, the payer role, the model owner, the data owner, and the owner of P2P-05. Until that note exists, the queue uses the nearest control owner already in the matrix. Accounts payable for a duplicate. Procurement for a missing purchase order. Finance Controls when a segregation flag is present. Master Data for a bank change. On INV-1003 those flags fire together, so Finance Controls is the closer until the note names one person. The demo names Ada and Michael Vance were typed on the screen.</a:t>
            </a:r>
          </a:p>
          <a:p>
            <a:pPr>
              <a:spcAft>
                <a:spcPts val="1000"/>
              </a:spcAft>
            </a:pPr>
            <a:r>
              <a:rPr sz="1400">
                <a:solidFill>
                  <a:srgbClr val="1C2833"/>
                </a:solidFill>
                <a:latin typeface="Calibri"/>
              </a:rPr>
              <a:t>Numbers that stay THRESHOLD_UNSET: new amount lines, the sibling time window, contest days, retention days, timeouts, and a false-positive target. The sibling evidence in force is the named pair only. INV-1003 and INV-1004. 4,950 plus 4,950 equals 9,900. Process times 11:15 and 11:16 on 12 August 2026.</a:t>
            </a:r>
          </a:p>
          <a:p>
            <a:pPr>
              <a:spcAft>
                <a:spcPts val="1000"/>
              </a:spcAft>
            </a:pPr>
            <a:r>
              <a:rPr sz="1400">
                <a:solidFill>
                  <a:srgbClr val="1C2833"/>
                </a:solidFill>
                <a:latin typeface="Calibri"/>
              </a:rPr>
              <a:t>Model gaps. Precision and recall on p2p-risk-2 are blank. PR-AUC is Missing. Residual miss is the share of bad payments the live route still lets through. That share has not been measured. Staffing for the REVIEW queue has not been measured. The classroom catch rate on the metrics page was 4 of 4 packet patterns. That figure is EDUCATIONAL. EDUCATIONAL means a classroom walk-through on these four invoices. It is not an official test-set result.</a:t>
            </a:r>
          </a:p>
          <a:p>
            <a:pPr>
              <a:spcAft>
                <a:spcPts val="1000"/>
              </a:spcAft>
            </a:pPr>
            <a:r>
              <a:rPr sz="1400">
                <a:solidFill>
                  <a:srgbClr val="1C2833"/>
                </a:solidFill>
                <a:latin typeface="Calibri"/>
              </a:rPr>
              <a:t>Retry. The safe payment count on INV-1005 stayed at 1. Safe means the write went through the key. Naive means the count if someone removes the key check. Cached means a separate counter that returns a stored result and skips a new write. Naive and cached are Unknown.</a:t>
            </a:r>
          </a:p>
          <a:p>
            <a:pPr>
              <a:spcAft>
                <a:spcPts val="1000"/>
              </a:spcAft>
            </a:pPr>
            <a:r>
              <a:rPr sz="1400">
                <a:solidFill>
                  <a:srgbClr val="1C2833"/>
                </a:solidFill>
                <a:latin typeface="Calibri"/>
              </a:rPr>
              <a:t>Two clicks were not in the 22 September notes. Open Contest on the Notify screen was not recorded. The code path exists: it writes event ESC_CONTEST, appends an audit row, and returns the case to IN_REVIEW. A supplier or an accounts-payable analyst may contest APPROVE, a REVIEW delay, or REJECT. The original audit row stays. A new row links to it. The days allowed to contest are unset. Also, we did not try to write the same audit id a second time, so we do not have a measured refusal. The WORM screen after Reset showed one locked row and no delete button. WORM means write once, read many. After lock, delete and overwrite are refused for the keep period. In this demo that list lives in the browser. It is a classroom copy of that store. The keep period in days is unset.</a:t>
            </a:r>
          </a:p>
          <a:p>
            <a:pPr>
              <a:spcAft>
                <a:spcPts val="1000"/>
              </a:spcAft>
            </a:pPr>
            <a:r>
              <a:rPr sz="1400">
                <a:solidFill>
                  <a:srgbClr val="1C2833"/>
                </a:solidFill>
                <a:latin typeface="Calibri"/>
              </a:rPr>
              <a:t>P2P-05 stays Missing with owner TBD. We treated the missing control as missing. The two inherited audit lines do not create it.</a:t>
            </a:r>
          </a:p>
          <a:p>
            <a:pPr>
              <a:spcAft>
                <a:spcPts val="1000"/>
              </a:spcAft>
            </a:pPr>
            <a:r>
              <a:rPr sz="1400">
                <a:solidFill>
                  <a:srgbClr val="1C2833"/>
                </a:solidFill>
                <a:latin typeface="Calibri"/>
              </a:rPr>
              <a:t>Source files: D3_PRD/PRD.md, the section “What stays open on purpose.” D4_App/TEST_EVIDENCE.md. D4_App/SIDE_EFFECT_COUNTER.md. D1_AsIs_Assessment/04_MISSING_CONTROLS.md.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WHAT THE CASE IS</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One supplier invoice may go on to payment</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1  /  7</a:t>
            </a:r>
          </a:p>
        </p:txBody>
      </p:sp>
      <p:sp>
        <p:nvSpPr>
          <p:cNvPr id="8" name="TextBox 7"/>
          <p:cNvSpPr txBox="1"/>
          <p:nvPr/>
        </p:nvSpPr>
        <p:spPr>
          <a:xfrm>
            <a:off x="502920" y="1298448"/>
            <a:ext cx="11155680" cy="5029200"/>
          </a:xfrm>
          <a:prstGeom prst="rect">
            <a:avLst/>
          </a:prstGeom>
          <a:noFill/>
        </p:spPr>
        <p:txBody>
          <a:bodyPr wrap="square"/>
          <a:lstStyle/>
          <a:p>
            <a:pPr algn="l" marL="256032" indent="-201168">
              <a:spcAft>
                <a:spcPts val="1000"/>
              </a:spcAft>
              <a:buChar char="•"/>
              <a:buFont typeface="Arial"/>
              <a:buSzPts val="1200"/>
            </a:pPr>
            <a:r>
              <a:rPr sz="1800" b="1">
                <a:solidFill>
                  <a:srgbClr val="143242"/>
                </a:solidFill>
                <a:latin typeface="Calibri"/>
              </a:rPr>
              <a:t>Use case 5. </a:t>
            </a:r>
            <a:r>
              <a:rPr sz="1800" b="0">
                <a:solidFill>
                  <a:srgbClr val="1C2833"/>
                </a:solidFill>
                <a:latin typeface="Calibri"/>
              </a:rPr>
              <a:t>Enterprise ERP / Shared Services — Procure-to-Pay Exception and Payment Control.</a:t>
            </a:r>
          </a:p>
          <a:p>
            <a:pPr algn="l" marL="256032" indent="-201168">
              <a:spcAft>
                <a:spcPts val="1000"/>
              </a:spcAft>
              <a:buChar char="•"/>
              <a:buFont typeface="Arial"/>
              <a:buSzPts val="1200"/>
            </a:pPr>
            <a:r>
              <a:rPr sz="1800" b="1">
                <a:solidFill>
                  <a:srgbClr val="143242"/>
                </a:solidFill>
                <a:latin typeface="Calibri"/>
              </a:rPr>
              <a:t>The decision. </a:t>
            </a:r>
            <a:r>
              <a:rPr sz="1800" b="0">
                <a:solidFill>
                  <a:srgbClr val="1C2833"/>
                </a:solidFill>
                <a:latin typeface="Calibri"/>
              </a:rPr>
              <a:t>Shared-services finance decides whether one supplier invoice can go on to payment.</a:t>
            </a:r>
          </a:p>
          <a:p>
            <a:pPr algn="l" marL="256032" indent="-201168">
              <a:spcAft>
                <a:spcPts val="1000"/>
              </a:spcAft>
              <a:buChar char="•"/>
              <a:buFont typeface="Arial"/>
              <a:buSzPts val="1200"/>
            </a:pPr>
            <a:r>
              <a:rPr sz="1800" b="1">
                <a:solidFill>
                  <a:srgbClr val="143242"/>
                </a:solidFill>
                <a:latin typeface="Calibri"/>
              </a:rPr>
              <a:t>Payment already happened twice. </a:t>
            </a:r>
            <a:r>
              <a:rPr sz="1800" b="0">
                <a:solidFill>
                  <a:srgbClr val="1C2833"/>
                </a:solidFill>
                <a:latin typeface="Calibri"/>
              </a:rPr>
              <a:t>INV-1001 and INV-1002 are paid at 9,800 USD each. Supplier V-201. Purchase order PO-7001.</a:t>
            </a:r>
          </a:p>
          <a:p>
            <a:pPr algn="l" marL="256032" indent="-201168">
              <a:spcAft>
                <a:spcPts val="1000"/>
              </a:spcAft>
              <a:buChar char="•"/>
              <a:buFont typeface="Arial"/>
              <a:buSzPts val="1200"/>
            </a:pPr>
            <a:r>
              <a:rPr sz="1800" b="1">
                <a:solidFill>
                  <a:srgbClr val="143242"/>
                </a:solidFill>
                <a:latin typeface="Calibri"/>
              </a:rPr>
              <a:t>The other packet cases. </a:t>
            </a:r>
            <a:r>
              <a:rPr sz="1800" b="0">
                <a:solidFill>
                  <a:srgbClr val="1C2833"/>
                </a:solidFill>
                <a:latin typeface="Calibri"/>
              </a:rPr>
              <a:t>Bank change CH-88, then INV-1003 and INV-1004 at 4,950 USD each.</a:t>
            </a:r>
          </a:p>
          <a:p>
            <a:pPr algn="l" marL="256032" indent="-201168">
              <a:spcAft>
                <a:spcPts val="1000"/>
              </a:spcAft>
              <a:buChar char="•"/>
              <a:buFont typeface="Arial"/>
              <a:buSzPts val="1200"/>
            </a:pPr>
            <a:r>
              <a:rPr sz="1800" b="1">
                <a:solidFill>
                  <a:srgbClr val="143242"/>
                </a:solidFill>
                <a:latin typeface="Calibri"/>
              </a:rPr>
              <a:t>What we hand back. </a:t>
            </a:r>
            <a:r>
              <a:rPr sz="1800" b="0">
                <a:solidFill>
                  <a:srgbClr val="1C2833"/>
                </a:solidFill>
                <a:latin typeface="Calibri"/>
              </a:rPr>
              <a:t>The As-Is reading, the Repo 2.0 design, the product requirements document, and the working app.</a:t>
            </a:r>
          </a:p>
          <a:p>
            <a:pPr algn="l" marL="256032" indent="-201168">
              <a:spcAft>
                <a:spcPts val="1000"/>
              </a:spcAft>
              <a:buChar char="•"/>
              <a:buFont typeface="Arial"/>
              <a:buSzPts val="1200"/>
            </a:pPr>
            <a:r>
              <a:rPr sz="1800" b="1">
                <a:solidFill>
                  <a:srgbClr val="143242"/>
                </a:solidFill>
                <a:latin typeface="Calibri"/>
              </a:rPr>
              <a:t>The runbook job. </a:t>
            </a:r>
            <a:r>
              <a:rPr sz="1800" b="0">
                <a:solidFill>
                  <a:srgbClr val="1C2833"/>
                </a:solidFill>
                <a:latin typeface="Calibri"/>
              </a:rPr>
              <a:t>Deal with manipulation, approval bypass, and suspicious patterns. Keep segregation of duties, stored evidence, and a person in the path.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D1  ·  AS-IS FINDINGS</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Three conflicts. Control P2P-05 is Missing.</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2  /  7</a:t>
            </a:r>
          </a:p>
        </p:txBody>
      </p:sp>
      <p:sp>
        <p:nvSpPr>
          <p:cNvPr id="8" name="TextBox 7"/>
          <p:cNvSpPr txBox="1"/>
          <p:nvPr/>
        </p:nvSpPr>
        <p:spPr>
          <a:xfrm>
            <a:off x="502920" y="1298448"/>
            <a:ext cx="11155680" cy="5029200"/>
          </a:xfrm>
          <a:prstGeom prst="rect">
            <a:avLst/>
          </a:prstGeom>
          <a:noFill/>
        </p:spPr>
        <p:txBody>
          <a:bodyPr wrap="square"/>
          <a:lstStyle/>
          <a:p>
            <a:pPr algn="l" marL="256032" indent="-201168">
              <a:spcAft>
                <a:spcPts val="900"/>
              </a:spcAft>
              <a:buChar char="•"/>
              <a:buFont typeface="Arial"/>
              <a:buSzPts val="1200"/>
            </a:pPr>
            <a:r>
              <a:rPr sz="1600" b="1">
                <a:solidFill>
                  <a:srgbClr val="143242"/>
                </a:solidFill>
                <a:latin typeface="Calibri"/>
              </a:rPr>
              <a:t>Conflict C-01. </a:t>
            </a:r>
            <a:r>
              <a:rPr sz="1600" b="0">
                <a:solidFill>
                  <a:srgbClr val="1C2833"/>
                </a:solidFill>
                <a:latin typeface="Calibri"/>
              </a:rPr>
              <a:t>The approval matrix names role AP_SUPERVISOR at 5,000. The rule file sends an empty purchase order under 5,000 forward. INV-1003 at 4,950 USD took that path. The result word was PROCESS.</a:t>
            </a:r>
          </a:p>
          <a:p>
            <a:pPr algn="l" marL="256032" indent="-201168">
              <a:spcAft>
                <a:spcPts val="900"/>
              </a:spcAft>
              <a:buChar char="•"/>
              <a:buFont typeface="Arial"/>
              <a:buSzPts val="1200"/>
            </a:pPr>
            <a:r>
              <a:rPr sz="1600" b="1">
                <a:solidFill>
                  <a:srgbClr val="143242"/>
                </a:solidFill>
                <a:latin typeface="Calibri"/>
              </a:rPr>
              <a:t>Conflict C-02. </a:t>
            </a:r>
            <a:r>
              <a:rPr sz="1600" b="0">
                <a:solidFill>
                  <a:srgbClr val="1C2833"/>
                </a:solidFill>
                <a:latin typeface="Calibri"/>
              </a:rPr>
              <a:t>The business note names invoice splitting. The rule file has no rule that adds invoices together. INV-1003 and INV-1004 are 4,950 plus 4,950, which is 9,900. Both took PROCESS.</a:t>
            </a:r>
          </a:p>
          <a:p>
            <a:pPr algn="l" marL="256032" indent="-201168">
              <a:spcAft>
                <a:spcPts val="900"/>
              </a:spcAft>
              <a:buChar char="•"/>
              <a:buFont typeface="Arial"/>
              <a:buSzPts val="1200"/>
            </a:pPr>
            <a:r>
              <a:rPr sz="1600" b="1">
                <a:solidFill>
                  <a:srgbClr val="143242"/>
                </a:solidFill>
                <a:latin typeface="Calibri"/>
              </a:rPr>
              <a:t>Conflict C-03. </a:t>
            </a:r>
            <a:r>
              <a:rPr sz="1600" b="0">
                <a:solidFill>
                  <a:srgbClr val="1C2833"/>
                </a:solidFill>
                <a:latin typeface="Calibri"/>
              </a:rPr>
              <a:t>The risk note names a requester and approver conflict. CH-88 has requester U22 and approver U22. The audit line stores SUCCESS. The rule file has no conflict rule.</a:t>
            </a:r>
          </a:p>
          <a:p>
            <a:pPr algn="l" marL="256032" indent="-201168">
              <a:spcAft>
                <a:spcPts val="900"/>
              </a:spcAft>
              <a:buChar char="•"/>
              <a:buFont typeface="Arial"/>
              <a:buSzPts val="1200"/>
            </a:pPr>
            <a:r>
              <a:rPr sz="1600" b="1">
                <a:solidFill>
                  <a:srgbClr val="143242"/>
                </a:solidFill>
                <a:latin typeface="Calibri"/>
              </a:rPr>
              <a:t>Control P2P-05. </a:t>
            </a:r>
            <a:r>
              <a:rPr sz="1600" b="0">
                <a:solidFill>
                  <a:srgbClr val="1C2833"/>
                </a:solidFill>
                <a:latin typeface="Calibri"/>
              </a:rPr>
              <a:t>Immutable payment decision evidence. Status Missing. Owner TBD. The two audit lines do not make that control exist.</a:t>
            </a:r>
          </a:p>
          <a:p>
            <a:pPr algn="l" marL="256032" indent="-201168">
              <a:spcAft>
                <a:spcPts val="900"/>
              </a:spcAft>
              <a:buChar char="•"/>
              <a:buFont typeface="Arial"/>
              <a:buSzPts val="1200"/>
            </a:pPr>
            <a:r>
              <a:rPr sz="1600" b="1">
                <a:solidFill>
                  <a:srgbClr val="143242"/>
                </a:solidFill>
                <a:latin typeface="Calibri"/>
              </a:rPr>
              <a:t>What D1 did. </a:t>
            </a:r>
            <a:r>
              <a:rPr sz="1600" b="0">
                <a:solidFill>
                  <a:srgbClr val="1C2833"/>
                </a:solidFill>
                <a:latin typeface="Calibri"/>
              </a:rPr>
              <a:t>D1 wrote both sides of each conflict. D1 left Repo 1.0 unchanged.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D2  ·  REPO 2.0</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One design file for each of the ten runbook steps</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3  /  7</a:t>
            </a:r>
          </a:p>
        </p:txBody>
      </p:sp>
      <p:sp>
        <p:nvSpPr>
          <p:cNvPr id="8" name="TextBox 7"/>
          <p:cNvSpPr txBox="1"/>
          <p:nvPr/>
        </p:nvSpPr>
        <p:spPr>
          <a:xfrm>
            <a:off x="502920" y="1280160"/>
            <a:ext cx="5532120" cy="5074920"/>
          </a:xfrm>
          <a:prstGeom prst="rect">
            <a:avLst/>
          </a:prstGeom>
          <a:noFill/>
        </p:spPr>
        <p:txBody>
          <a:bodyPr wrap="square"/>
          <a:lstStyle/>
          <a:p>
            <a:pPr algn="l" marL="256032" indent="-201168">
              <a:spcAft>
                <a:spcPts val="800"/>
              </a:spcAft>
              <a:buChar char="•"/>
              <a:buFont typeface="Arial"/>
              <a:buSzPts val="1200"/>
            </a:pPr>
            <a:r>
              <a:rPr sz="1400" b="1">
                <a:solidFill>
                  <a:srgbClr val="143242"/>
                </a:solidFill>
                <a:latin typeface="Calibri"/>
              </a:rPr>
              <a:t>Ten steps. </a:t>
            </a:r>
            <a:r>
              <a:rPr sz="1400" b="0">
                <a:solidFill>
                  <a:srgbClr val="1C2833"/>
                </a:solidFill>
                <a:latin typeface="Calibri"/>
              </a:rPr>
              <a:t>Repo 2.0 has one file for each step. Repo 1.0 stays as evidence.</a:t>
            </a:r>
          </a:p>
          <a:p>
            <a:pPr algn="l" marL="256032" indent="-201168">
              <a:spcAft>
                <a:spcPts val="800"/>
              </a:spcAft>
              <a:buChar char="•"/>
              <a:buFont typeface="Arial"/>
              <a:buSzPts val="1200"/>
            </a:pPr>
            <a:r>
              <a:rPr sz="1400" b="1">
                <a:solidFill>
                  <a:srgbClr val="143242"/>
                </a:solidFill>
                <a:latin typeface="Calibri"/>
              </a:rPr>
              <a:t>Step 1. </a:t>
            </a:r>
            <a:r>
              <a:rPr sz="1400" b="0">
                <a:solidFill>
                  <a:srgbClr val="1C2833"/>
                </a:solidFill>
                <a:latin typeface="Calibri"/>
              </a:rPr>
              <a:t>Outcomes are APPROVE, REVIEW, and REJECT. The model ranks. A named person pays.</a:t>
            </a:r>
          </a:p>
          <a:p>
            <a:pPr algn="l" marL="256032" indent="-201168">
              <a:spcAft>
                <a:spcPts val="800"/>
              </a:spcAft>
              <a:buChar char="•"/>
              <a:buFont typeface="Arial"/>
              <a:buSzPts val="1200"/>
            </a:pPr>
            <a:r>
              <a:rPr sz="1400" b="1">
                <a:solidFill>
                  <a:srgbClr val="143242"/>
                </a:solidFill>
                <a:latin typeface="Calibri"/>
              </a:rPr>
              <a:t>Step 2. </a:t>
            </a:r>
            <a:r>
              <a:rPr sz="1400" b="0">
                <a:solidFill>
                  <a:srgbClr val="1C2833"/>
                </a:solidFill>
                <a:latin typeface="Calibri"/>
              </a:rPr>
              <a:t>Keeps the 9,800 USD pair, the alias V-201 and V201, and CH-88 before INV-1003.</a:t>
            </a:r>
          </a:p>
          <a:p>
            <a:pPr algn="l" marL="256032" indent="-201168">
              <a:spcAft>
                <a:spcPts val="800"/>
              </a:spcAft>
              <a:buChar char="•"/>
              <a:buFont typeface="Arial"/>
              <a:buSzPts val="1200"/>
            </a:pPr>
            <a:r>
              <a:rPr sz="1400" b="1">
                <a:solidFill>
                  <a:srgbClr val="143242"/>
                </a:solidFill>
                <a:latin typeface="Calibri"/>
              </a:rPr>
              <a:t>Step 3. </a:t>
            </a:r>
            <a:r>
              <a:rPr sz="1400" b="0">
                <a:solidFill>
                  <a:srgbClr val="1C2833"/>
                </a:solidFill>
                <a:latin typeface="Calibri"/>
              </a:rPr>
              <a:t>Compares models on precision, recall, and false-positive rate. The copied accuracy cells stay in the source file.</a:t>
            </a:r>
          </a:p>
          <a:p>
            <a:pPr algn="l" marL="256032" indent="-201168">
              <a:spcAft>
                <a:spcPts val="800"/>
              </a:spcAft>
              <a:buChar char="•"/>
              <a:buFont typeface="Arial"/>
              <a:buSzPts val="1200"/>
            </a:pPr>
            <a:r>
              <a:rPr sz="1400" b="1">
                <a:solidFill>
                  <a:srgbClr val="143242"/>
                </a:solidFill>
                <a:latin typeface="Calibri"/>
              </a:rPr>
              <a:t>Step 4. </a:t>
            </a:r>
            <a:r>
              <a:rPr sz="1400" b="0">
                <a:solidFill>
                  <a:srgbClr val="1C2833"/>
                </a:solidFill>
                <a:latin typeface="Calibri"/>
              </a:rPr>
              <a:t>Joins alias ids. An uncertain document read goes to a person.</a:t>
            </a:r>
          </a:p>
          <a:p>
            <a:pPr algn="l" marL="256032" indent="-201168">
              <a:spcAft>
                <a:spcPts val="800"/>
              </a:spcAft>
              <a:buChar char="•"/>
              <a:buFont typeface="Arial"/>
              <a:buSzPts val="1200"/>
            </a:pPr>
            <a:r>
              <a:rPr sz="1400" b="1">
                <a:solidFill>
                  <a:srgbClr val="143242"/>
                </a:solidFill>
                <a:latin typeface="Calibri"/>
              </a:rPr>
              <a:t>Step 5. </a:t>
            </a:r>
            <a:r>
              <a:rPr sz="1400" b="0">
                <a:solidFill>
                  <a:srgbClr val="1C2833"/>
                </a:solidFill>
                <a:latin typeface="Calibri"/>
              </a:rPr>
              <a:t>Links the bank change to the later invoice. Pay and Notify each use a key.</a:t>
            </a:r>
          </a:p>
        </p:txBody>
      </p:sp>
      <p:sp>
        <p:nvSpPr>
          <p:cNvPr id="9" name="TextBox 8"/>
          <p:cNvSpPr txBox="1"/>
          <p:nvPr/>
        </p:nvSpPr>
        <p:spPr>
          <a:xfrm>
            <a:off x="6263640" y="1280160"/>
            <a:ext cx="5440680" cy="5074920"/>
          </a:xfrm>
          <a:prstGeom prst="rect">
            <a:avLst/>
          </a:prstGeom>
          <a:noFill/>
        </p:spPr>
        <p:txBody>
          <a:bodyPr wrap="square"/>
          <a:lstStyle/>
          <a:p>
            <a:pPr algn="l" marL="256032" indent="-201168">
              <a:spcAft>
                <a:spcPts val="800"/>
              </a:spcAft>
              <a:buChar char="•"/>
              <a:buFont typeface="Arial"/>
              <a:buSzPts val="1200"/>
            </a:pPr>
            <a:r>
              <a:rPr sz="1400" b="1">
                <a:solidFill>
                  <a:srgbClr val="143242"/>
                </a:solidFill>
                <a:latin typeface="Calibri"/>
              </a:rPr>
              <a:t>Step 6. </a:t>
            </a:r>
            <a:r>
              <a:rPr sz="1400" b="0">
                <a:solidFill>
                  <a:srgbClr val="1C2833"/>
                </a:solidFill>
                <a:latin typeface="Calibri"/>
              </a:rPr>
              <a:t>Retires PROCESS. Empty purchase order, same-user bank change, and the pair INV-1003 plus INV-1004 go to REVIEW.</a:t>
            </a:r>
          </a:p>
          <a:p>
            <a:pPr algn="l" marL="256032" indent="-201168">
              <a:spcAft>
                <a:spcPts val="800"/>
              </a:spcAft>
              <a:buChar char="•"/>
              <a:buFont typeface="Arial"/>
              <a:buSzPts val="1200"/>
            </a:pPr>
            <a:r>
              <a:rPr sz="1400" b="1">
                <a:solidFill>
                  <a:srgbClr val="143242"/>
                </a:solidFill>
                <a:latin typeface="Calibri"/>
              </a:rPr>
              <a:t>Step 7. </a:t>
            </a:r>
            <a:r>
              <a:rPr sz="1400" b="0">
                <a:solidFill>
                  <a:srgbClr val="1C2833"/>
                </a:solidFill>
                <a:latin typeface="Calibri"/>
              </a:rPr>
              <a:t>Agree, Disagree, and Override sit on the same screen. A contest path is written.</a:t>
            </a:r>
          </a:p>
          <a:p>
            <a:pPr algn="l" marL="256032" indent="-201168">
              <a:spcAft>
                <a:spcPts val="800"/>
              </a:spcAft>
              <a:buChar char="•"/>
              <a:buFont typeface="Arial"/>
              <a:buSzPts val="1200"/>
            </a:pPr>
            <a:r>
              <a:rPr sz="1400" b="1">
                <a:solidFill>
                  <a:srgbClr val="143242"/>
                </a:solidFill>
                <a:latin typeface="Calibri"/>
              </a:rPr>
              <a:t>Step 8. </a:t>
            </a:r>
            <a:r>
              <a:rPr sz="1400" b="0">
                <a:solidFill>
                  <a:srgbClr val="1C2833"/>
                </a:solidFill>
                <a:latin typeface="Calibri"/>
              </a:rPr>
              <a:t>The app writes the audit row before payment status changes. The P2P-05 owner stays TBD.</a:t>
            </a:r>
          </a:p>
          <a:p>
            <a:pPr algn="l" marL="256032" indent="-201168">
              <a:spcAft>
                <a:spcPts val="800"/>
              </a:spcAft>
              <a:buChar char="•"/>
              <a:buFont typeface="Arial"/>
              <a:buSzPts val="1200"/>
            </a:pPr>
            <a:r>
              <a:rPr sz="1400" b="1">
                <a:solidFill>
                  <a:srgbClr val="143242"/>
                </a:solidFill>
                <a:latin typeface="Calibri"/>
              </a:rPr>
              <a:t>Step 9. </a:t>
            </a:r>
            <a:r>
              <a:rPr sz="1400" b="0">
                <a:solidFill>
                  <a:srgbClr val="1C2833"/>
                </a:solidFill>
                <a:latin typeface="Calibri"/>
              </a:rPr>
              <a:t>Operations watches false-positive rate, override rate, unscored rate, and audit completeness.</a:t>
            </a:r>
          </a:p>
          <a:p>
            <a:pPr algn="l" marL="256032" indent="-201168">
              <a:spcAft>
                <a:spcPts val="800"/>
              </a:spcAft>
              <a:buChar char="•"/>
              <a:buFont typeface="Arial"/>
              <a:buSzPts val="1200"/>
            </a:pPr>
            <a:r>
              <a:rPr sz="1400" b="1">
                <a:solidFill>
                  <a:srgbClr val="143242"/>
                </a:solidFill>
                <a:latin typeface="Calibri"/>
              </a:rPr>
              <a:t>Step 10. </a:t>
            </a:r>
            <a:r>
              <a:rPr sz="1400" b="0">
                <a:solidFill>
                  <a:srgbClr val="1C2833"/>
                </a:solidFill>
                <a:latin typeface="Calibri"/>
              </a:rPr>
              <a:t>The two old passing tests stay visible until new tests replace them. New amount lines stay unset until a named owner writes a decision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D3  ·  REQUIREMENTS</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Five acceptance cases the app must pass</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4  /  7</a:t>
            </a:r>
          </a:p>
        </p:txBody>
      </p:sp>
      <p:sp>
        <p:nvSpPr>
          <p:cNvPr id="8" name="TextBox 7"/>
          <p:cNvSpPr txBox="1"/>
          <p:nvPr/>
        </p:nvSpPr>
        <p:spPr>
          <a:xfrm>
            <a:off x="502920" y="1280160"/>
            <a:ext cx="11155680" cy="5074920"/>
          </a:xfrm>
          <a:prstGeom prst="rect">
            <a:avLst/>
          </a:prstGeom>
          <a:noFill/>
        </p:spPr>
        <p:txBody>
          <a:bodyPr wrap="square"/>
          <a:lstStyle/>
          <a:p>
            <a:pPr algn="l" marL="256032" indent="-201168">
              <a:spcAft>
                <a:spcPts val="600"/>
              </a:spcAft>
              <a:buChar char="•"/>
              <a:buFont typeface="Arial"/>
              <a:buSzPts val="1200"/>
            </a:pPr>
            <a:r>
              <a:rPr sz="1500" b="1">
                <a:solidFill>
                  <a:srgbClr val="143242"/>
                </a:solidFill>
                <a:latin typeface="Calibri"/>
              </a:rPr>
              <a:t>Document version. </a:t>
            </a:r>
            <a:r>
              <a:rPr sz="1500" b="0">
                <a:solidFill>
                  <a:srgbClr val="1C2833"/>
                </a:solidFill>
                <a:latin typeface="Calibri"/>
              </a:rPr>
              <a:t>D3a. The app implements this document.</a:t>
            </a:r>
          </a:p>
          <a:p>
            <a:pPr algn="l" marL="256032" indent="-201168">
              <a:spcAft>
                <a:spcPts val="600"/>
              </a:spcAft>
              <a:buChar char="•"/>
              <a:buFont typeface="Arial"/>
              <a:buSzPts val="1200"/>
            </a:pPr>
            <a:r>
              <a:rPr sz="1500" b="1">
                <a:solidFill>
                  <a:srgbClr val="143242"/>
                </a:solidFill>
                <a:latin typeface="Calibri"/>
              </a:rPr>
              <a:t>Outcomes. </a:t>
            </a:r>
            <a:r>
              <a:rPr sz="1500" b="0">
                <a:solidFill>
                  <a:srgbClr val="1C2833"/>
                </a:solidFill>
                <a:latin typeface="Calibri"/>
              </a:rPr>
              <a:t>APPROVE, REVIEW, and REJECT. A named person owns REVIEW. A named person releases payment.</a:t>
            </a:r>
          </a:p>
          <a:p>
            <a:pPr algn="l" marL="256032" indent="-201168">
              <a:spcAft>
                <a:spcPts val="600"/>
              </a:spcAft>
              <a:buChar char="•"/>
              <a:buFont typeface="Arial"/>
              <a:buSzPts val="1200"/>
            </a:pPr>
            <a:r>
              <a:rPr sz="1500" b="1">
                <a:solidFill>
                  <a:srgbClr val="143242"/>
                </a:solidFill>
                <a:latin typeface="Calibri"/>
              </a:rPr>
              <a:t>Case 1, duplicate. </a:t>
            </a:r>
            <a:r>
              <a:rPr sz="1500" b="0">
                <a:solidFill>
                  <a:srgbClr val="1C2833"/>
                </a:solidFill>
                <a:latin typeface="Calibri"/>
              </a:rPr>
              <a:t>INV-1002 matches INV-1001 on supplier, purchase order, 9,800 USD, and currency. INV-1002 goes to REVIEW.</a:t>
            </a:r>
          </a:p>
          <a:p>
            <a:pPr algn="l" marL="256032" indent="-201168">
              <a:spcAft>
                <a:spcPts val="600"/>
              </a:spcAft>
              <a:buChar char="•"/>
              <a:buFont typeface="Arial"/>
              <a:buSzPts val="1200"/>
            </a:pPr>
            <a:r>
              <a:rPr sz="1500" b="1">
                <a:solidFill>
                  <a:srgbClr val="143242"/>
                </a:solidFill>
                <a:latin typeface="Calibri"/>
              </a:rPr>
              <a:t>Case 2, alias. </a:t>
            </a:r>
            <a:r>
              <a:rPr sz="1500" b="0">
                <a:solidFill>
                  <a:srgbClr val="1C2833"/>
                </a:solidFill>
                <a:latin typeface="Calibri"/>
              </a:rPr>
              <a:t>An invoice that uses supplier id V201 joins to V-201 and goes to REVIEW.</a:t>
            </a:r>
          </a:p>
          <a:p>
            <a:pPr algn="l" marL="256032" indent="-201168">
              <a:spcAft>
                <a:spcPts val="600"/>
              </a:spcAft>
              <a:buChar char="•"/>
              <a:buFont typeface="Arial"/>
              <a:buSzPts val="1200"/>
            </a:pPr>
            <a:r>
              <a:rPr sz="1500" b="1">
                <a:solidFill>
                  <a:srgbClr val="143242"/>
                </a:solidFill>
                <a:latin typeface="Calibri"/>
              </a:rPr>
              <a:t>Case 3, bank change. </a:t>
            </a:r>
            <a:r>
              <a:rPr sz="1500" b="0">
                <a:solidFill>
                  <a:srgbClr val="1C2833"/>
                </a:solidFill>
                <a:latin typeface="Calibri"/>
              </a:rPr>
              <a:t>CH-88, then INV-1003 and INV-1004, goes to REVIEW. The pair sum 9,900 is stored.</a:t>
            </a:r>
          </a:p>
          <a:p>
            <a:pPr algn="l" marL="256032" indent="-201168">
              <a:spcAft>
                <a:spcPts val="600"/>
              </a:spcAft>
              <a:buChar char="•"/>
              <a:buFont typeface="Arial"/>
              <a:buSzPts val="1200"/>
            </a:pPr>
            <a:r>
              <a:rPr sz="1500" b="1">
                <a:solidFill>
                  <a:srgbClr val="143242"/>
                </a:solidFill>
                <a:latin typeface="Calibri"/>
              </a:rPr>
              <a:t>Case 4, scorer down. </a:t>
            </a:r>
            <a:r>
              <a:rPr sz="1500" b="0">
                <a:solidFill>
                  <a:srgbClr val="1C2833"/>
                </a:solidFill>
                <a:latin typeface="Calibri"/>
              </a:rPr>
              <a:t>The outcome is REVIEW. The rank is empty. The stored score stays empty.</a:t>
            </a:r>
          </a:p>
          <a:p>
            <a:pPr algn="l" marL="256032" indent="-201168">
              <a:spcAft>
                <a:spcPts val="600"/>
              </a:spcAft>
              <a:buChar char="•"/>
              <a:buFont typeface="Arial"/>
              <a:buSzPts val="1200"/>
            </a:pPr>
            <a:r>
              <a:rPr sz="1500" b="1">
                <a:solidFill>
                  <a:srgbClr val="143242"/>
                </a:solidFill>
                <a:latin typeface="Calibri"/>
              </a:rPr>
              <a:t>Case 5, pay twice. </a:t>
            </a:r>
            <a:r>
              <a:rPr sz="1500" b="0">
                <a:solidFill>
                  <a:srgbClr val="1C2833"/>
                </a:solidFill>
                <a:latin typeface="Calibri"/>
              </a:rPr>
              <a:t>The same payment key leaves the payment count at 1.</a:t>
            </a:r>
          </a:p>
          <a:p>
            <a:pPr algn="l" marL="256032" indent="-201168">
              <a:spcAft>
                <a:spcPts val="600"/>
              </a:spcAft>
              <a:buChar char="•"/>
              <a:buFont typeface="Arial"/>
              <a:buSzPts val="1200"/>
            </a:pPr>
            <a:r>
              <a:rPr sz="1500" b="1">
                <a:solidFill>
                  <a:srgbClr val="143242"/>
                </a:solidFill>
                <a:latin typeface="Calibri"/>
              </a:rPr>
              <a:t>New limits. </a:t>
            </a:r>
            <a:r>
              <a:rPr sz="1500" b="0">
                <a:solidFill>
                  <a:srgbClr val="1C2833"/>
                </a:solidFill>
                <a:latin typeface="Calibri"/>
              </a:rPr>
              <a:t>Every new number stays unset until a later note names an owner. REVIEW still runs on rules that need no new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D4  ·  DEMO ON 22 SEP 2026</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Five clicked cases passed on the local app</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5  /  7</a:t>
            </a:r>
          </a:p>
        </p:txBody>
      </p:sp>
      <p:sp>
        <p:nvSpPr>
          <p:cNvPr id="8" name="TextBox 7"/>
          <p:cNvSpPr txBox="1"/>
          <p:nvPr/>
        </p:nvSpPr>
        <p:spPr>
          <a:xfrm>
            <a:off x="502920" y="1261872"/>
            <a:ext cx="11155680" cy="5120640"/>
          </a:xfrm>
          <a:prstGeom prst="rect">
            <a:avLst/>
          </a:prstGeom>
          <a:noFill/>
        </p:spPr>
        <p:txBody>
          <a:bodyPr wrap="square"/>
          <a:lstStyle/>
          <a:p>
            <a:pPr algn="l" marL="256032" indent="-201168">
              <a:spcAft>
                <a:spcPts val="500"/>
              </a:spcAft>
              <a:buChar char="•"/>
              <a:buFont typeface="Arial"/>
              <a:buSzPts val="1200"/>
            </a:pPr>
            <a:r>
              <a:rPr sz="1500" b="1">
                <a:solidFill>
                  <a:srgbClr val="143242"/>
                </a:solidFill>
                <a:latin typeface="Calibri"/>
              </a:rPr>
              <a:t>Where we clicked. </a:t>
            </a:r>
            <a:r>
              <a:rPr sz="1500" b="0">
                <a:solidFill>
                  <a:srgbClr val="1C2833"/>
                </a:solidFill>
                <a:latin typeface="Calibri"/>
              </a:rPr>
              <a:t>Local app at localhost port 3000. The hosted Studio page stopped at Google sign-in.</a:t>
            </a:r>
          </a:p>
          <a:p>
            <a:pPr algn="l" marL="256032" indent="-201168">
              <a:spcAft>
                <a:spcPts val="500"/>
              </a:spcAft>
              <a:buChar char="•"/>
              <a:buFont typeface="Arial"/>
              <a:buSzPts val="1200"/>
            </a:pPr>
            <a:r>
              <a:rPr sz="1500" b="1">
                <a:solidFill>
                  <a:srgbClr val="143242"/>
                </a:solidFill>
                <a:latin typeface="Calibri"/>
              </a:rPr>
              <a:t>The path. </a:t>
            </a:r>
            <a:r>
              <a:rPr sz="1500" b="0">
                <a:solidFill>
                  <a:srgbClr val="1C2833"/>
                </a:solidFill>
                <a:latin typeface="Calibri"/>
              </a:rPr>
              <a:t>Ingest, Extract, Verify, Detect, Score + Decide, Review, Notify, Pay, then Case History.</a:t>
            </a:r>
          </a:p>
          <a:p>
            <a:pPr algn="l" marL="256032" indent="-201168">
              <a:spcAft>
                <a:spcPts val="500"/>
              </a:spcAft>
              <a:buChar char="•"/>
              <a:buFont typeface="Arial"/>
              <a:buSzPts val="1200"/>
            </a:pPr>
            <a:r>
              <a:rPr sz="1500" b="1">
                <a:solidFill>
                  <a:srgbClr val="143242"/>
                </a:solidFill>
                <a:latin typeface="Calibri"/>
              </a:rPr>
              <a:t>Duplicate. </a:t>
            </a:r>
            <a:r>
              <a:rPr sz="1500" b="0">
                <a:solidFill>
                  <a:srgbClr val="1C2833"/>
                </a:solidFill>
                <a:latin typeface="Calibri"/>
              </a:rPr>
              <a:t>INV-1002 went to REVIEW. Reason DUP_SUPPLIER_PO_AMOUNT. Payment count stayed 0. PASS.</a:t>
            </a:r>
          </a:p>
          <a:p>
            <a:pPr algn="l" marL="256032" indent="-201168">
              <a:spcAft>
                <a:spcPts val="500"/>
              </a:spcAft>
              <a:buChar char="•"/>
              <a:buFont typeface="Arial"/>
              <a:buSzPts val="1200"/>
            </a:pPr>
            <a:r>
              <a:rPr sz="1500" b="1">
                <a:solidFill>
                  <a:srgbClr val="143242"/>
                </a:solidFill>
                <a:latin typeface="Calibri"/>
              </a:rPr>
              <a:t>Alias. </a:t>
            </a:r>
            <a:r>
              <a:rPr sz="1500" b="0">
                <a:solidFill>
                  <a:srgbClr val="1C2833"/>
                </a:solidFill>
                <a:latin typeface="Calibri"/>
              </a:rPr>
              <a:t>Invoice INV-1006-ALIAS used raw id V201, joined to V-201, and went to REVIEW. PASS.</a:t>
            </a:r>
          </a:p>
          <a:p>
            <a:pPr algn="l" marL="256032" indent="-201168">
              <a:spcAft>
                <a:spcPts val="500"/>
              </a:spcAft>
              <a:buChar char="•"/>
              <a:buFont typeface="Arial"/>
              <a:buSzPts val="1200"/>
            </a:pPr>
            <a:r>
              <a:rPr sz="1500" b="1">
                <a:solidFill>
                  <a:srgbClr val="143242"/>
                </a:solidFill>
                <a:latin typeface="Calibri"/>
              </a:rPr>
              <a:t>Bank change. </a:t>
            </a:r>
            <a:r>
              <a:rPr sz="1500" b="0">
                <a:solidFill>
                  <a:srgbClr val="1C2833"/>
                </a:solidFill>
                <a:latin typeface="Calibri"/>
              </a:rPr>
              <a:t>INV-1003 and INV-1004 stayed REVIEW. Ada could disagree. A blank name was refused. PASS.</a:t>
            </a:r>
          </a:p>
          <a:p>
            <a:pPr algn="l" marL="256032" indent="-201168">
              <a:spcAft>
                <a:spcPts val="500"/>
              </a:spcAft>
              <a:buChar char="•"/>
              <a:buFont typeface="Arial"/>
              <a:buSzPts val="1200"/>
            </a:pPr>
            <a:r>
              <a:rPr sz="1500" b="1">
                <a:solidFill>
                  <a:srgbClr val="143242"/>
                </a:solidFill>
                <a:latin typeface="Calibri"/>
              </a:rPr>
              <a:t>Scorer down. </a:t>
            </a:r>
            <a:r>
              <a:rPr sz="1500" b="0">
                <a:solidFill>
                  <a:srgbClr val="1C2833"/>
                </a:solidFill>
                <a:latin typeface="Calibri"/>
              </a:rPr>
              <a:t>INV-1005 showed rank NULL and banner UNSCORED. Outcome REVIEW. PASS.</a:t>
            </a:r>
          </a:p>
          <a:p>
            <a:pPr algn="l" marL="256032" indent="-201168">
              <a:spcAft>
                <a:spcPts val="500"/>
              </a:spcAft>
              <a:buChar char="•"/>
              <a:buFont typeface="Arial"/>
              <a:buSzPts val="1200"/>
            </a:pPr>
            <a:r>
              <a:rPr sz="1500" b="1">
                <a:solidFill>
                  <a:srgbClr val="143242"/>
                </a:solidFill>
                <a:latin typeface="Calibri"/>
              </a:rPr>
              <a:t>Pay twice. </a:t>
            </a:r>
            <a:r>
              <a:rPr sz="1500" b="0">
                <a:solidFill>
                  <a:srgbClr val="1C2833"/>
                </a:solidFill>
                <a:latin typeface="Calibri"/>
              </a:rPr>
              <a:t>INV-1005 went from payment count 0 to 1. The second click stayed at 1. Key INV-1005:payment. PASS.</a:t>
            </a:r>
          </a:p>
          <a:p>
            <a:pPr algn="l" marL="256032" indent="-201168">
              <a:spcAft>
                <a:spcPts val="500"/>
              </a:spcAft>
              <a:buChar char="•"/>
              <a:buFont typeface="Arial"/>
              <a:buSzPts val="1200"/>
            </a:pPr>
            <a:r>
              <a:rPr sz="1500" b="1">
                <a:solidFill>
                  <a:srgbClr val="143242"/>
                </a:solidFill>
                <a:latin typeface="Calibri"/>
              </a:rPr>
              <a:t>The rank. </a:t>
            </a:r>
            <a:r>
              <a:rPr sz="1500" b="0">
                <a:solidFill>
                  <a:srgbClr val="1C2833"/>
                </a:solidFill>
                <a:latin typeface="Calibri"/>
              </a:rPr>
              <a:t>It is an order in a set of invoices. On INV-1003 the badge said PRECOMPUTED. PRECOMPUTED means the number was copied for the demo.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ONE REBUILT CASE</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Case History rebuilds INV-1003 after Ada’s click</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6  /  7</a:t>
            </a:r>
          </a:p>
        </p:txBody>
      </p:sp>
      <p:sp>
        <p:nvSpPr>
          <p:cNvPr id="8" name="TextBox 7"/>
          <p:cNvSpPr txBox="1"/>
          <p:nvPr/>
        </p:nvSpPr>
        <p:spPr>
          <a:xfrm>
            <a:off x="502920" y="1261872"/>
            <a:ext cx="11155680" cy="502920"/>
          </a:xfrm>
          <a:prstGeom prst="rect">
            <a:avLst/>
          </a:prstGeom>
          <a:noFill/>
        </p:spPr>
        <p:txBody>
          <a:bodyPr wrap="square"/>
          <a:lstStyle/>
          <a:p>
            <a:r>
              <a:rPr sz="1600" b="0">
                <a:solidFill>
                  <a:srgbClr val="1C2833"/>
                </a:solidFill>
                <a:latin typeface="Calibri"/>
              </a:rPr>
              <a:t>Before the click, Case History showed 0 audit rows. After Disagree, it showed 1 row.</a:t>
            </a:r>
          </a:p>
        </p:txBody>
      </p:sp>
      <p:graphicFrame>
        <p:nvGraphicFramePr>
          <p:cNvPr id="9" name="Table 8"/>
          <p:cNvGraphicFramePr>
            <a:graphicFrameLocks noGrp="1"/>
          </p:cNvGraphicFramePr>
          <p:nvPr/>
        </p:nvGraphicFramePr>
        <p:xfrm>
          <a:off x="502920" y="1828800"/>
          <a:ext cx="11155680" cy="4434840"/>
        </p:xfrm>
        <a:graphic>
          <a:graphicData uri="http://schemas.openxmlformats.org/drawingml/2006/table">
            <a:tbl>
              <a:tblPr firstRow="1" bandRow="1">
                <a:tableStyleId>{5C22544A-7EE6-4342-B048-85BDC9FD1C3A}</a:tableStyleId>
              </a:tblPr>
              <a:tblGrid>
                <a:gridCol w="2194560"/>
                <a:gridCol w="8961120"/>
              </a:tblGrid>
              <a:tr h="443484">
                <a:tc>
                  <a:txBody>
                    <a:bodyPr/>
                    <a:lstStyle/>
                    <a:p>
                      <a:pPr algn="l"/>
                      <a:r>
                        <a:rPr sz="1300" b="1">
                          <a:solidFill>
                            <a:srgbClr val="FFFFFF"/>
                          </a:solidFill>
                          <a:latin typeface="Calibri"/>
                        </a:rPr>
                        <a:t>Field</a:t>
                      </a:r>
                    </a:p>
                  </a:txBody>
                  <a:tcPr anchor="ctr" marL="91440" marR="73152" marT="36576" marB="36576">
                    <a:solidFill>
                      <a:srgbClr val="143242"/>
                    </a:solidFill>
                  </a:tcPr>
                </a:tc>
                <a:tc>
                  <a:txBody>
                    <a:bodyPr/>
                    <a:lstStyle/>
                    <a:p>
                      <a:pPr algn="l"/>
                      <a:r>
                        <a:rPr sz="1300" b="1">
                          <a:solidFill>
                            <a:srgbClr val="FFFFFF"/>
                          </a:solidFill>
                          <a:latin typeface="Calibri"/>
                        </a:rPr>
                        <a:t>Value on the audit row</a:t>
                      </a:r>
                    </a:p>
                  </a:txBody>
                  <a:tcPr anchor="ctr" marL="91440" marR="73152" marT="36576" marB="36576">
                    <a:solidFill>
                      <a:srgbClr val="143242"/>
                    </a:solidFill>
                  </a:tcPr>
                </a:tc>
              </a:tr>
              <a:tr h="443484">
                <a:tc>
                  <a:txBody>
                    <a:bodyPr/>
                    <a:lstStyle/>
                    <a:p>
                      <a:pPr algn="l"/>
                      <a:r>
                        <a:rPr sz="1300" b="1">
                          <a:solidFill>
                            <a:srgbClr val="1C2833"/>
                          </a:solidFill>
                          <a:latin typeface="Calibri"/>
                        </a:rPr>
                        <a:t>Actor</a:t>
                      </a:r>
                    </a:p>
                  </a:txBody>
                  <a:tcPr anchor="ctr" marL="91440" marR="73152" marT="36576" marB="36576">
                    <a:solidFill>
                      <a:srgbClr val="FFFFFF"/>
                    </a:solidFill>
                  </a:tcPr>
                </a:tc>
                <a:tc>
                  <a:txBody>
                    <a:bodyPr/>
                    <a:lstStyle/>
                    <a:p>
                      <a:pPr algn="l"/>
                      <a:r>
                        <a:rPr sz="1300" b="0">
                          <a:solidFill>
                            <a:srgbClr val="1C2833"/>
                          </a:solidFill>
                          <a:latin typeface="Calibri"/>
                        </a:rPr>
                        <a:t>Ada</a:t>
                      </a:r>
                    </a:p>
                  </a:txBody>
                  <a:tcPr anchor="ctr" marL="91440" marR="73152" marT="36576" marB="36576">
                    <a:solidFill>
                      <a:srgbClr val="FFFFFF"/>
                    </a:solidFill>
                  </a:tcPr>
                </a:tc>
              </a:tr>
              <a:tr h="443484">
                <a:tc>
                  <a:txBody>
                    <a:bodyPr/>
                    <a:lstStyle/>
                    <a:p>
                      <a:pPr algn="l"/>
                      <a:r>
                        <a:rPr sz="1300" b="1">
                          <a:solidFill>
                            <a:srgbClr val="1C2833"/>
                          </a:solidFill>
                          <a:latin typeface="Calibri"/>
                        </a:rPr>
                        <a:t>From-state</a:t>
                      </a:r>
                    </a:p>
                  </a:txBody>
                  <a:tcPr anchor="ctr" marL="91440" marR="73152" marT="36576" marB="36576">
                    <a:solidFill>
                      <a:srgbClr val="F4F7F8"/>
                    </a:solidFill>
                  </a:tcPr>
                </a:tc>
                <a:tc>
                  <a:txBody>
                    <a:bodyPr/>
                    <a:lstStyle/>
                    <a:p>
                      <a:pPr algn="l"/>
                      <a:r>
                        <a:rPr sz="1300" b="0">
                          <a:solidFill>
                            <a:srgbClr val="1C2833"/>
                          </a:solidFill>
                          <a:latin typeface="Calibri"/>
                        </a:rPr>
                        <a:t>DECIDED</a:t>
                      </a:r>
                    </a:p>
                  </a:txBody>
                  <a:tcPr anchor="ctr" marL="91440" marR="73152" marT="36576" marB="36576">
                    <a:solidFill>
                      <a:srgbClr val="F4F7F8"/>
                    </a:solidFill>
                  </a:tcPr>
                </a:tc>
              </a:tr>
              <a:tr h="443484">
                <a:tc>
                  <a:txBody>
                    <a:bodyPr/>
                    <a:lstStyle/>
                    <a:p>
                      <a:pPr algn="l"/>
                      <a:r>
                        <a:rPr sz="1300" b="1">
                          <a:solidFill>
                            <a:srgbClr val="1C2833"/>
                          </a:solidFill>
                          <a:latin typeface="Calibri"/>
                        </a:rPr>
                        <a:t>To-state</a:t>
                      </a:r>
                    </a:p>
                  </a:txBody>
                  <a:tcPr anchor="ctr" marL="91440" marR="73152" marT="36576" marB="36576">
                    <a:solidFill>
                      <a:srgbClr val="FFFFFF"/>
                    </a:solidFill>
                  </a:tcPr>
                </a:tc>
                <a:tc>
                  <a:txBody>
                    <a:bodyPr/>
                    <a:lstStyle/>
                    <a:p>
                      <a:pPr algn="l"/>
                      <a:r>
                        <a:rPr sz="1300" b="0">
                          <a:solidFill>
                            <a:srgbClr val="1C2833"/>
                          </a:solidFill>
                          <a:latin typeface="Calibri"/>
                        </a:rPr>
                        <a:t>REVIEWED</a:t>
                      </a:r>
                    </a:p>
                  </a:txBody>
                  <a:tcPr anchor="ctr" marL="91440" marR="73152" marT="36576" marB="36576">
                    <a:solidFill>
                      <a:srgbClr val="FFFFFF"/>
                    </a:solidFill>
                  </a:tcPr>
                </a:tc>
              </a:tr>
              <a:tr h="443484">
                <a:tc>
                  <a:txBody>
                    <a:bodyPr/>
                    <a:lstStyle/>
                    <a:p>
                      <a:pPr algn="l"/>
                      <a:r>
                        <a:rPr sz="1300" b="1">
                          <a:solidFill>
                            <a:srgbClr val="1C2833"/>
                          </a:solidFill>
                          <a:latin typeface="Calibri"/>
                        </a:rPr>
                        <a:t>Outcome</a:t>
                      </a:r>
                    </a:p>
                  </a:txBody>
                  <a:tcPr anchor="ctr" marL="91440" marR="73152" marT="36576" marB="36576">
                    <a:solidFill>
                      <a:srgbClr val="F4F7F8"/>
                    </a:solidFill>
                  </a:tcPr>
                </a:tc>
                <a:tc>
                  <a:txBody>
                    <a:bodyPr/>
                    <a:lstStyle/>
                    <a:p>
                      <a:pPr algn="l"/>
                      <a:r>
                        <a:rPr sz="1300" b="0">
                          <a:solidFill>
                            <a:srgbClr val="1C2833"/>
                          </a:solidFill>
                          <a:latin typeface="Calibri"/>
                        </a:rPr>
                        <a:t>APPROVE</a:t>
                      </a:r>
                    </a:p>
                  </a:txBody>
                  <a:tcPr anchor="ctr" marL="91440" marR="73152" marT="36576" marB="36576">
                    <a:solidFill>
                      <a:srgbClr val="F4F7F8"/>
                    </a:solidFill>
                  </a:tcPr>
                </a:tc>
              </a:tr>
              <a:tr h="443484">
                <a:tc>
                  <a:txBody>
                    <a:bodyPr/>
                    <a:lstStyle/>
                    <a:p>
                      <a:pPr algn="l"/>
                      <a:r>
                        <a:rPr sz="1300" b="1">
                          <a:solidFill>
                            <a:srgbClr val="1C2833"/>
                          </a:solidFill>
                          <a:latin typeface="Calibri"/>
                        </a:rPr>
                        <a:t>Score text</a:t>
                      </a:r>
                    </a:p>
                  </a:txBody>
                  <a:tcPr anchor="ctr" marL="91440" marR="73152" marT="36576" marB="36576">
                    <a:solidFill>
                      <a:srgbClr val="FFFFFF"/>
                    </a:solidFill>
                  </a:tcPr>
                </a:tc>
                <a:tc>
                  <a:txBody>
                    <a:bodyPr/>
                    <a:lstStyle/>
                    <a:p>
                      <a:pPr algn="l"/>
                      <a:r>
                        <a:rPr sz="1300" b="0">
                          <a:solidFill>
                            <a:srgbClr val="1C2833"/>
                          </a:solidFill>
                          <a:latin typeface="Calibri"/>
                        </a:rPr>
                        <a:t>#2 of 420 cohort. Detect badge: PRECOMPUTED. Raw index 0.96.</a:t>
                      </a:r>
                    </a:p>
                  </a:txBody>
                  <a:tcPr anchor="ctr" marL="91440" marR="73152" marT="36576" marB="36576">
                    <a:solidFill>
                      <a:srgbClr val="FFFFFF"/>
                    </a:solidFill>
                  </a:tcPr>
                </a:tc>
              </a:tr>
              <a:tr h="443484">
                <a:tc>
                  <a:txBody>
                    <a:bodyPr/>
                    <a:lstStyle/>
                    <a:p>
                      <a:pPr algn="l"/>
                      <a:r>
                        <a:rPr sz="1300" b="1">
                          <a:solidFill>
                            <a:srgbClr val="1C2833"/>
                          </a:solidFill>
                          <a:latin typeface="Calibri"/>
                        </a:rPr>
                        <a:t>Reasons</a:t>
                      </a:r>
                    </a:p>
                  </a:txBody>
                  <a:tcPr anchor="ctr" marL="91440" marR="73152" marT="36576" marB="36576">
                    <a:solidFill>
                      <a:srgbClr val="F4F7F8"/>
                    </a:solidFill>
                  </a:tcPr>
                </a:tc>
                <a:tc>
                  <a:txBody>
                    <a:bodyPr/>
                    <a:lstStyle/>
                    <a:p>
                      <a:pPr algn="l"/>
                      <a:r>
                        <a:rPr sz="1300" b="0">
                          <a:solidFill>
                            <a:srgbClr val="1C2833"/>
                          </a:solidFill>
                          <a:latin typeface="Calibri"/>
                        </a:rPr>
                        <a:t>NON_PO, BANK_CHANGE_LINKED, SOD_SAME_USER_BANK, SPLIT_SIBLING_SUM, POLICY_REVIEW</a:t>
                      </a:r>
                    </a:p>
                  </a:txBody>
                  <a:tcPr anchor="ctr" marL="91440" marR="73152" marT="36576" marB="36576">
                    <a:solidFill>
                      <a:srgbClr val="F4F7F8"/>
                    </a:solidFill>
                  </a:tcPr>
                </a:tc>
              </a:tr>
              <a:tr h="443484">
                <a:tc>
                  <a:txBody>
                    <a:bodyPr/>
                    <a:lstStyle/>
                    <a:p>
                      <a:pPr algn="l"/>
                      <a:r>
                        <a:rPr sz="1300" b="1">
                          <a:solidFill>
                            <a:srgbClr val="1C2833"/>
                          </a:solidFill>
                          <a:latin typeface="Calibri"/>
                        </a:rPr>
                        <a:t>Model version</a:t>
                      </a:r>
                    </a:p>
                  </a:txBody>
                  <a:tcPr anchor="ctr" marL="91440" marR="73152" marT="36576" marB="36576">
                    <a:solidFill>
                      <a:srgbClr val="FFFFFF"/>
                    </a:solidFill>
                  </a:tcPr>
                </a:tc>
                <a:tc>
                  <a:txBody>
                    <a:bodyPr/>
                    <a:lstStyle/>
                    <a:p>
                      <a:pPr algn="l"/>
                      <a:r>
                        <a:rPr sz="1300" b="0">
                          <a:solidFill>
                            <a:srgbClr val="1C2833"/>
                          </a:solidFill>
                          <a:latin typeface="Calibri"/>
                        </a:rPr>
                        <a:t>p2p-risk-2</a:t>
                      </a:r>
                    </a:p>
                  </a:txBody>
                  <a:tcPr anchor="ctr" marL="91440" marR="73152" marT="36576" marB="36576">
                    <a:solidFill>
                      <a:srgbClr val="FFFFFF"/>
                    </a:solidFill>
                  </a:tcPr>
                </a:tc>
              </a:tr>
              <a:tr h="443484">
                <a:tc>
                  <a:txBody>
                    <a:bodyPr/>
                    <a:lstStyle/>
                    <a:p>
                      <a:pPr algn="l"/>
                      <a:r>
                        <a:rPr sz="1300" b="1">
                          <a:solidFill>
                            <a:srgbClr val="1C2833"/>
                          </a:solidFill>
                          <a:latin typeface="Calibri"/>
                        </a:rPr>
                        <a:t>Rule version</a:t>
                      </a:r>
                    </a:p>
                  </a:txBody>
                  <a:tcPr anchor="ctr" marL="91440" marR="73152" marT="36576" marB="36576">
                    <a:solidFill>
                      <a:srgbClr val="F4F7F8"/>
                    </a:solidFill>
                  </a:tcPr>
                </a:tc>
                <a:tc>
                  <a:txBody>
                    <a:bodyPr/>
                    <a:lstStyle/>
                    <a:p>
                      <a:pPr algn="l"/>
                      <a:r>
                        <a:rPr sz="1300" b="0">
                          <a:solidFill>
                            <a:srgbClr val="1C2833"/>
                          </a:solidFill>
                          <a:latin typeface="Calibri"/>
                        </a:rPr>
                        <a:t>p2p-rules-v2.0</a:t>
                      </a:r>
                    </a:p>
                  </a:txBody>
                  <a:tcPr anchor="ctr" marL="91440" marR="73152" marT="36576" marB="36576">
                    <a:solidFill>
                      <a:srgbClr val="F4F7F8"/>
                    </a:solidFill>
                  </a:tcPr>
                </a:tc>
              </a:tr>
              <a:tr h="443484">
                <a:tc>
                  <a:txBody>
                    <a:bodyPr/>
                    <a:lstStyle/>
                    <a:p>
                      <a:pPr algn="l"/>
                      <a:r>
                        <a:rPr sz="1300" b="1">
                          <a:solidFill>
                            <a:srgbClr val="1C2833"/>
                          </a:solidFill>
                          <a:latin typeface="Calibri"/>
                        </a:rPr>
                        <a:t>Prompt id</a:t>
                      </a:r>
                    </a:p>
                  </a:txBody>
                  <a:tcPr anchor="ctr" marL="91440" marR="73152" marT="36576" marB="36576">
                    <a:solidFill>
                      <a:srgbClr val="FFFFFF"/>
                    </a:solidFill>
                  </a:tcPr>
                </a:tc>
                <a:tc>
                  <a:txBody>
                    <a:bodyPr/>
                    <a:lstStyle/>
                    <a:p>
                      <a:pPr algn="l"/>
                      <a:r>
                        <a:rPr sz="1300" b="0">
                          <a:solidFill>
                            <a:srgbClr val="1C2833"/>
                          </a:solidFill>
                          <a:latin typeface="Calibri"/>
                        </a:rPr>
                        <a:t>Unknown. The notes do not list one.</a:t>
                      </a:r>
                    </a:p>
                  </a:txBody>
                  <a:tcPr anchor="ctr" marL="91440" marR="73152" marT="36576" marB="36576">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E6B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1155680" cy="256032"/>
          </a:xfrm>
          <a:prstGeom prst="rect">
            <a:avLst/>
          </a:prstGeom>
          <a:noFill/>
        </p:spPr>
        <p:txBody>
          <a:bodyPr wrap="square"/>
          <a:lstStyle/>
          <a:p>
            <a:r>
              <a:rPr sz="1200" b="1">
                <a:solidFill>
                  <a:srgbClr val="0E6B66"/>
                </a:solidFill>
                <a:latin typeface="Calibri"/>
              </a:rPr>
              <a:t>RESIDUAL RISK AND UNKNOWNS</a:t>
            </a:r>
          </a:p>
        </p:txBody>
      </p:sp>
      <p:sp>
        <p:nvSpPr>
          <p:cNvPr id="4" name="TextBox 3"/>
          <p:cNvSpPr txBox="1"/>
          <p:nvPr/>
        </p:nvSpPr>
        <p:spPr>
          <a:xfrm>
            <a:off x="502920" y="420624"/>
            <a:ext cx="11155680" cy="640080"/>
          </a:xfrm>
          <a:prstGeom prst="rect">
            <a:avLst/>
          </a:prstGeom>
          <a:noFill/>
        </p:spPr>
        <p:txBody>
          <a:bodyPr wrap="square"/>
          <a:lstStyle/>
          <a:p>
            <a:r>
              <a:rPr sz="2800" b="1">
                <a:solidFill>
                  <a:srgbClr val="143242"/>
                </a:solidFill>
                <a:latin typeface="Calibri"/>
              </a:rPr>
              <a:t>These items stay open on purpose</a:t>
            </a:r>
          </a:p>
        </p:txBody>
      </p:sp>
      <p:sp>
        <p:nvSpPr>
          <p:cNvPr id="5" name="Rectangle 4"/>
          <p:cNvSpPr/>
          <p:nvPr/>
        </p:nvSpPr>
        <p:spPr>
          <a:xfrm>
            <a:off x="502920" y="1115568"/>
            <a:ext cx="11201400" cy="13716"/>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10528"/>
            <a:ext cx="8686800" cy="256032"/>
          </a:xfrm>
          <a:prstGeom prst="rect">
            <a:avLst/>
          </a:prstGeom>
          <a:noFill/>
        </p:spPr>
        <p:txBody>
          <a:bodyPr wrap="square"/>
          <a:lstStyle/>
          <a:p>
            <a:r>
              <a:rPr sz="1100" b="0">
                <a:solidFill>
                  <a:srgbClr val="4E5D67"/>
                </a:solidFill>
                <a:latin typeface="Calibri"/>
              </a:rPr>
              <a:t>Use case 5  ·  Procure-to-Pay payment control</a:t>
            </a:r>
          </a:p>
        </p:txBody>
      </p:sp>
      <p:sp>
        <p:nvSpPr>
          <p:cNvPr id="7" name="TextBox 6"/>
          <p:cNvSpPr txBox="1"/>
          <p:nvPr/>
        </p:nvSpPr>
        <p:spPr>
          <a:xfrm>
            <a:off x="9509760" y="6510528"/>
            <a:ext cx="2194560" cy="256032"/>
          </a:xfrm>
          <a:prstGeom prst="rect">
            <a:avLst/>
          </a:prstGeom>
          <a:noFill/>
        </p:spPr>
        <p:txBody>
          <a:bodyPr wrap="square"/>
          <a:lstStyle/>
          <a:p>
            <a:pPr algn="r"/>
            <a:r>
              <a:rPr sz="1100" b="0">
                <a:solidFill>
                  <a:srgbClr val="4E5D67"/>
                </a:solidFill>
                <a:latin typeface="Calibri"/>
              </a:rPr>
              <a:t>7  /  7</a:t>
            </a:r>
          </a:p>
        </p:txBody>
      </p:sp>
      <p:sp>
        <p:nvSpPr>
          <p:cNvPr id="8" name="TextBox 7"/>
          <p:cNvSpPr txBox="1"/>
          <p:nvPr/>
        </p:nvSpPr>
        <p:spPr>
          <a:xfrm>
            <a:off x="502920" y="1261872"/>
            <a:ext cx="11155680" cy="5120640"/>
          </a:xfrm>
          <a:prstGeom prst="rect">
            <a:avLst/>
          </a:prstGeom>
          <a:noFill/>
        </p:spPr>
        <p:txBody>
          <a:bodyPr wrap="square"/>
          <a:lstStyle/>
          <a:p>
            <a:pPr algn="l" marL="256032" indent="-201168">
              <a:spcAft>
                <a:spcPts val="500"/>
              </a:spcAft>
              <a:buChar char="•"/>
              <a:buFont typeface="Arial"/>
              <a:buSzPts val="1200"/>
            </a:pPr>
            <a:r>
              <a:rPr sz="1500" b="1">
                <a:solidFill>
                  <a:srgbClr val="143242"/>
                </a:solidFill>
                <a:latin typeface="Calibri"/>
              </a:rPr>
              <a:t>Legal checks. </a:t>
            </a:r>
            <a:r>
              <a:rPr sz="1500" b="0">
                <a:solidFill>
                  <a:srgbClr val="1C2833"/>
                </a:solidFill>
                <a:latin typeface="Calibri"/>
              </a:rPr>
              <a:t>Statutes, sanctions, politically exposed persons, and address checks are Unknown. The invoice rows have no country.</a:t>
            </a:r>
          </a:p>
          <a:p>
            <a:pPr algn="l" marL="256032" indent="-201168">
              <a:spcAft>
                <a:spcPts val="500"/>
              </a:spcAft>
              <a:buChar char="•"/>
              <a:buFont typeface="Arial"/>
              <a:buSzPts val="1200"/>
            </a:pPr>
            <a:r>
              <a:rPr sz="1500" b="1">
                <a:solidFill>
                  <a:srgbClr val="143242"/>
                </a:solidFill>
                <a:latin typeface="Calibri"/>
              </a:rPr>
              <a:t>Missing feeds. </a:t>
            </a:r>
            <a:r>
              <a:rPr sz="1500" b="0">
                <a:solidFill>
                  <a:srgbClr val="1C2833"/>
                </a:solidFill>
                <a:latin typeface="Calibri"/>
              </a:rPr>
              <a:t>The goods-receipt file is Missing. The price list is Unknown.</a:t>
            </a:r>
          </a:p>
          <a:p>
            <a:pPr algn="l" marL="256032" indent="-201168">
              <a:spcAft>
                <a:spcPts val="500"/>
              </a:spcAft>
              <a:buChar char="•"/>
              <a:buFont typeface="Arial"/>
              <a:buSzPts val="1200"/>
            </a:pPr>
            <a:r>
              <a:rPr sz="1500" b="1">
                <a:solidFill>
                  <a:srgbClr val="143242"/>
                </a:solidFill>
                <a:latin typeface="Calibri"/>
              </a:rPr>
              <a:t>Named owners. </a:t>
            </a:r>
            <a:r>
              <a:rPr sz="1500" b="0">
                <a:solidFill>
                  <a:srgbClr val="1C2833"/>
                </a:solidFill>
                <a:latin typeface="Calibri"/>
              </a:rPr>
              <a:t>Review owner, payer, model owner, data owner, and the P2P-05 owner are Missing or TBD.</a:t>
            </a:r>
          </a:p>
          <a:p>
            <a:pPr algn="l" marL="256032" indent="-201168">
              <a:spcAft>
                <a:spcPts val="500"/>
              </a:spcAft>
              <a:buChar char="•"/>
              <a:buFont typeface="Arial"/>
              <a:buSzPts val="1200"/>
            </a:pPr>
            <a:r>
              <a:rPr sz="1500" b="1">
                <a:solidFill>
                  <a:srgbClr val="143242"/>
                </a:solidFill>
                <a:latin typeface="Calibri"/>
              </a:rPr>
              <a:t>Unset numbers. </a:t>
            </a:r>
            <a:r>
              <a:rPr sz="1500" b="0">
                <a:solidFill>
                  <a:srgbClr val="1C2833"/>
                </a:solidFill>
                <a:latin typeface="Calibri"/>
              </a:rPr>
              <a:t>New amount lines, the sibling time window, contest days, and how long to keep records stay unset. The sibling pair in force is INV-1003 and INV-1004.</a:t>
            </a:r>
          </a:p>
          <a:p>
            <a:pPr algn="l" marL="256032" indent="-201168">
              <a:spcAft>
                <a:spcPts val="500"/>
              </a:spcAft>
              <a:buChar char="•"/>
              <a:buFont typeface="Arial"/>
              <a:buSzPts val="1200"/>
            </a:pPr>
            <a:r>
              <a:rPr sz="1500" b="1">
                <a:solidFill>
                  <a:srgbClr val="143242"/>
                </a:solidFill>
                <a:latin typeface="Calibri"/>
              </a:rPr>
              <a:t>Model gaps. </a:t>
            </a:r>
            <a:r>
              <a:rPr sz="1500" b="0">
                <a:solidFill>
                  <a:srgbClr val="1C2833"/>
                </a:solidFill>
                <a:latin typeface="Calibri"/>
              </a:rPr>
              <a:t>Precision and recall on p2p-risk-2 are blank. PR-AUC is Missing. No one has measured how many bad pays still get through.</a:t>
            </a:r>
          </a:p>
          <a:p>
            <a:pPr algn="l" marL="256032" indent="-201168">
              <a:spcAft>
                <a:spcPts val="500"/>
              </a:spcAft>
              <a:buChar char="•"/>
              <a:buFont typeface="Arial"/>
              <a:buSzPts val="1200"/>
            </a:pPr>
            <a:r>
              <a:rPr sz="1500" b="1">
                <a:solidFill>
                  <a:srgbClr val="143242"/>
                </a:solidFill>
                <a:latin typeface="Calibri"/>
              </a:rPr>
              <a:t>Counts we did not run. </a:t>
            </a:r>
            <a:r>
              <a:rPr sz="1500" b="0">
                <a:solidFill>
                  <a:srgbClr val="1C2833"/>
                </a:solidFill>
                <a:latin typeface="Calibri"/>
              </a:rPr>
              <a:t>Naive and cached Pay and Notify counts are Unknown. The measured payment count on INV-1005 stayed at 1.</a:t>
            </a:r>
          </a:p>
          <a:p>
            <a:pPr algn="l" marL="256032" indent="-201168">
              <a:spcAft>
                <a:spcPts val="500"/>
              </a:spcAft>
              <a:buChar char="•"/>
              <a:buFont typeface="Arial"/>
              <a:buSzPts val="1200"/>
            </a:pPr>
            <a:r>
              <a:rPr sz="1500" b="1">
                <a:solidFill>
                  <a:srgbClr val="143242"/>
                </a:solidFill>
                <a:latin typeface="Calibri"/>
              </a:rPr>
              <a:t>Clicks we did not make. </a:t>
            </a:r>
            <a:r>
              <a:rPr sz="1500" b="0">
                <a:solidFill>
                  <a:srgbClr val="1C2833"/>
                </a:solidFill>
                <a:latin typeface="Calibri"/>
              </a:rPr>
              <a:t>Open Contest was not recorded. A second write of the same audit id was not attempted.</a:t>
            </a:r>
          </a:p>
          <a:p>
            <a:pPr algn="l" marL="256032" indent="-201168">
              <a:spcAft>
                <a:spcPts val="500"/>
              </a:spcAft>
              <a:buChar char="•"/>
              <a:buFont typeface="Arial"/>
              <a:buSzPts val="1200"/>
            </a:pPr>
            <a:r>
              <a:rPr sz="1500" b="1">
                <a:solidFill>
                  <a:srgbClr val="143242"/>
                </a:solidFill>
                <a:latin typeface="Calibri"/>
              </a:rPr>
              <a:t>The audit list. </a:t>
            </a:r>
            <a:r>
              <a:rPr sz="1500" b="0">
                <a:solidFill>
                  <a:srgbClr val="1C2833"/>
                </a:solidFill>
                <a:latin typeface="Calibri"/>
              </a:rPr>
              <a:t>It lives in the browser for this demo. It is a classroom copy of a store that refuses delete and overwrite.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Use case 5 — Procure-to-Pay payment control</dc:title>
  <dc:subject>Team presentation of D1, Repo 2.0, the requirements document, and the demo</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Sprint 2 capstone</cp:category>
</cp:coreProperties>
</file>