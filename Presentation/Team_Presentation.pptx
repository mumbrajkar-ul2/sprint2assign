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5" r:id="rId9"/>
    <p:sldId id="266"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304" autoAdjust="0"/>
  </p:normalViewPr>
  <p:slideViewPr>
    <p:cSldViewPr snapToGrid="0" snapToObjects="1">
      <p:cViewPr>
        <p:scale>
          <a:sx n="62" d="100"/>
          <a:sy n="62" d="100"/>
        </p:scale>
        <p:origin x="76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4699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dirty="0">
                <a:solidFill>
                  <a:srgbClr val="1C2833"/>
                </a:solidFill>
                <a:latin typeface="Calibri"/>
              </a:rPr>
              <a:t>Say this first. This deck is use case 5 from the Sprint 2 runbook, page 5. The full name is Enterprise ERP / Shared Services — Procure-to-Pay Exception and Payment Control. Shared services is the team that pays suppliers for the company. ERP is the system that stores those buy and pay records.</a:t>
            </a:r>
          </a:p>
          <a:p>
            <a:pPr>
              <a:spcAft>
                <a:spcPts val="1000"/>
              </a:spcAft>
            </a:pPr>
            <a:r>
              <a:rPr sz="1400" dirty="0">
                <a:solidFill>
                  <a:srgbClr val="1C2833"/>
                </a:solidFill>
                <a:latin typeface="Calibri"/>
              </a:rPr>
              <a:t>The event we score is one supplier invoice. The question on that invoice is whether it can go on to payment.</a:t>
            </a:r>
          </a:p>
          <a:p>
            <a:pPr>
              <a:spcAft>
                <a:spcPts val="1000"/>
              </a:spcAft>
            </a:pPr>
            <a:r>
              <a:rPr sz="1400" dirty="0">
                <a:solidFill>
                  <a:srgbClr val="1C2833"/>
                </a:solidFill>
                <a:latin typeface="Calibri"/>
              </a:rPr>
              <a:t>Payment is the step that cannot be undone. In the inherited files, invoice INV-1001 and invoice INV-1002 are already paid. Each amount is 9,800 USD. The supplier id is V-201. The purchase order is PO-7001. A purchase order is the company’s official buy record. A later rule change does not pull those two payments back.</a:t>
            </a:r>
          </a:p>
          <a:p>
            <a:pPr>
              <a:spcAft>
                <a:spcPts val="1000"/>
              </a:spcAft>
            </a:pPr>
            <a:r>
              <a:rPr sz="1400" dirty="0">
                <a:solidFill>
                  <a:srgbClr val="1C2833"/>
                </a:solidFill>
                <a:latin typeface="Calibri"/>
              </a:rPr>
              <a:t>The same packet holds a bank-account change called CH-88. On 11 August 2026 at 13:44, user U22 asked to change supplier V-311’s bank account from XXXX1122 to XXXX9988. User U22 also approved that change. The next day two invoices arrived. INV-1003 and INV-1004 are 4,950 USD each. Neither row has a purchase order.</a:t>
            </a:r>
          </a:p>
          <a:p>
            <a:pPr>
              <a:spcAft>
                <a:spcPts val="1000"/>
              </a:spcAft>
            </a:pPr>
            <a:r>
              <a:rPr sz="1400" dirty="0">
                <a:solidFill>
                  <a:srgbClr val="1C2833"/>
                </a:solidFill>
                <a:latin typeface="Calibri"/>
              </a:rPr>
              <a:t>The hand-back is four folders plus this deck. D1 is the reading of the inherited files. We call that folder the As-Is reading. D2 is the new design, in the folder Repo 2.0. D3 is the product requirements document. D4 is the working app we clicked on 22 September 2026. This presentation walks those four in that order.</a:t>
            </a:r>
          </a:p>
          <a:p>
            <a:pPr>
              <a:spcAft>
                <a:spcPts val="1000"/>
              </a:spcAft>
            </a:pPr>
            <a:r>
              <a:rPr sz="1400" dirty="0">
                <a:solidFill>
                  <a:srgbClr val="1C2833"/>
                </a:solidFill>
                <a:latin typeface="Calibri"/>
              </a:rPr>
              <a:t>Page 4 of the runbook still shows the job in the last column of the table. Deal with manipulation, approval bypass, and suspicious transaction patterns. Keep segregation of duties, evidence, and a person in the path. Segregation of duties means the person who asks for a bank change is a different person from the person who approves it.</a:t>
            </a:r>
          </a:p>
          <a:p>
            <a:pPr>
              <a:spcAft>
                <a:spcPts val="1000"/>
              </a:spcAft>
            </a:pPr>
            <a:r>
              <a:rPr sz="1400" dirty="0">
                <a:solidFill>
                  <a:srgbClr val="1C2833"/>
                </a:solidFill>
                <a:latin typeface="Calibri"/>
              </a:rPr>
              <a:t>If someone asks which facts existed at decision time, answer with the locked list. Invoice id. Supplier id. Whether a purchase order exists. Amount. Currency. Approver. The flag bank_changed_30d, which means the bank account changed in the last 30 days. The named rule version and the named model version. A later label that says the invoice was fraud is absent from these rows.</a:t>
            </a:r>
          </a:p>
          <a:p>
            <a:pPr>
              <a:spcAft>
                <a:spcPts val="1000"/>
              </a:spcAft>
            </a:pPr>
            <a:r>
              <a:rPr sz="1400" dirty="0">
                <a:solidFill>
                  <a:srgbClr val="1C2833"/>
                </a:solidFill>
                <a:latin typeface="Calibri"/>
              </a:rPr>
              <a:t>Worked picture for INV-1003 in the inherited files. At 11:15 on 12 August 2026 the row held supplier V-311, an empty purchase order, 4,950 USD, approver U22, and bank_changed_30d = Y. CH-88 was already stored the day before. The running rule stored NON_PO_UNDER_5000 and result PROCESS. PROCESS is the word the old rule file wrote when it sent the invoice forward.</a:t>
            </a:r>
          </a:p>
          <a:p>
            <a:pPr>
              <a:spcAft>
                <a:spcPts val="1000"/>
              </a:spcAft>
            </a:pPr>
            <a:r>
              <a:rPr sz="1400" dirty="0">
                <a:solidFill>
                  <a:srgbClr val="1C2833"/>
                </a:solidFill>
                <a:latin typeface="Calibri"/>
              </a:rPr>
              <a:t>Source files: Runbook Pages 4-5.pdf, page 5. D1_AsIs_Assessment/00_LOCKED_FACTS.md. D1_AsIs_Assessment/02_CASE_REPLAY.md.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dirty="0">
                <a:solidFill>
                  <a:srgbClr val="1C2833"/>
                </a:solidFill>
                <a:latin typeface="Calibri"/>
              </a:rPr>
              <a:t>D1 is the reading of the inherited folder. The path is 05_procure_to_pay_exception_repo_1_0. D1 did not edit those files. D1 did not choose which file wins.</a:t>
            </a:r>
          </a:p>
          <a:p>
            <a:pPr>
              <a:spcAft>
                <a:spcPts val="1000"/>
              </a:spcAft>
            </a:pPr>
            <a:r>
              <a:rPr sz="1400" dirty="0">
                <a:solidFill>
                  <a:srgbClr val="1C2833"/>
                </a:solidFill>
                <a:latin typeface="Calibri"/>
              </a:rPr>
              <a:t>Conflict C-01. One file, approval_matrix.csv, stores amount 5,000 and the role AP_SUPERVISOR. AP means accounts payable. A second file, </a:t>
            </a:r>
            <a:r>
              <a:rPr sz="1400" dirty="0" err="1">
                <a:solidFill>
                  <a:srgbClr val="1C2833"/>
                </a:solidFill>
                <a:latin typeface="Calibri"/>
              </a:rPr>
              <a:t>exception_rules.yaml</a:t>
            </a:r>
            <a:r>
              <a:rPr sz="1400" dirty="0">
                <a:solidFill>
                  <a:srgbClr val="1C2833"/>
                </a:solidFill>
                <a:latin typeface="Calibri"/>
              </a:rPr>
              <a:t>, says: if the purchase order is empty and the amount is under 5,000, the result is PROCESS. INV-1003 is 4,950 USD with an empty purchase order, so that rule fired. The invoice file stores status APPROVED. The log stores PROCESS. D1 records both files. D1 does not decide whether 4,950 needs the supervisor.</a:t>
            </a:r>
          </a:p>
          <a:p>
            <a:pPr>
              <a:spcAft>
                <a:spcPts val="1000"/>
              </a:spcAft>
            </a:pPr>
            <a:r>
              <a:rPr sz="1400" dirty="0">
                <a:solidFill>
                  <a:srgbClr val="1C2833"/>
                </a:solidFill>
                <a:latin typeface="Calibri"/>
              </a:rPr>
              <a:t>Conflict C-02. The business problem note says finance has seen invoice splitting. Splitting means two invoices that each sit under a limit and together sit over it. The rule file lists “no split-invoice aggregation” under its gaps. Aggregation would mean adding the invoices before the decision. INV-1003 at 11:15 and INV-1004 at 11:16 are 4,950 USD each. Together they are 9,900. Each one took PROCESS on its own.</a:t>
            </a:r>
          </a:p>
          <a:p>
            <a:pPr>
              <a:spcAft>
                <a:spcPts val="1000"/>
              </a:spcAft>
            </a:pPr>
            <a:r>
              <a:rPr sz="1400" dirty="0">
                <a:solidFill>
                  <a:srgbClr val="1C2833"/>
                </a:solidFill>
                <a:latin typeface="Calibri"/>
              </a:rPr>
              <a:t>Conflict C-03. The risk note names a conflict when the same person requests and approves. Control P2P-03, segregation of duties, is owned by Finance Controls and the status is Manual. CH-88 </a:t>
            </a:r>
            <a:r>
              <a:rPr sz="1400" dirty="0" err="1">
                <a:solidFill>
                  <a:srgbClr val="1C2833"/>
                </a:solidFill>
                <a:latin typeface="Calibri"/>
              </a:rPr>
              <a:t>requested_by</a:t>
            </a:r>
            <a:r>
              <a:rPr sz="1400" dirty="0">
                <a:solidFill>
                  <a:srgbClr val="1C2833"/>
                </a:solidFill>
                <a:latin typeface="Calibri"/>
              </a:rPr>
              <a:t> U22 and </a:t>
            </a:r>
            <a:r>
              <a:rPr sz="1400" dirty="0" err="1">
                <a:solidFill>
                  <a:srgbClr val="1C2833"/>
                </a:solidFill>
                <a:latin typeface="Calibri"/>
              </a:rPr>
              <a:t>approved_by</a:t>
            </a:r>
            <a:r>
              <a:rPr sz="1400" dirty="0">
                <a:solidFill>
                  <a:srgbClr val="1C2833"/>
                </a:solidFill>
                <a:latin typeface="Calibri"/>
              </a:rPr>
              <a:t> U22, and the audit line stores SUCCESS. The rule file lists “no requester/approver conflict rule” under its gaps. A contrast row exists: CH-89 was requested by U18 and approved by U19.</a:t>
            </a:r>
          </a:p>
          <a:p>
            <a:pPr>
              <a:spcAft>
                <a:spcPts val="1000"/>
              </a:spcAft>
            </a:pPr>
            <a:r>
              <a:rPr sz="1400" dirty="0">
                <a:solidFill>
                  <a:srgbClr val="1C2833"/>
                </a:solidFill>
                <a:latin typeface="Calibri"/>
              </a:rPr>
              <a:t>There is a fourth conflict in the register, C-04. Say it if someone asks about the model number. The model card stores accuracy 0.94 on p2p-risk-2. The evaluation file also stores a false-positive rate of 0.24 on that version and 0.18 on p2p-risk-1. False-positive rate is the share of good invoices the model flags. Precision and recall on version 2 are blank. The slide leads with the three payment conflicts. The metric answer is in the notes for the next design slide and in DEFENCE.md question 2.</a:t>
            </a:r>
          </a:p>
          <a:p>
            <a:pPr>
              <a:spcAft>
                <a:spcPts val="1000"/>
              </a:spcAft>
            </a:pPr>
            <a:r>
              <a:rPr sz="1400" dirty="0">
                <a:solidFill>
                  <a:srgbClr val="1C2833"/>
                </a:solidFill>
                <a:latin typeface="Calibri"/>
              </a:rPr>
              <a:t>Control P2P-05. The control matrix row says Immutable payment decision evidence, owner TBD, status Missing. Immutable means the record cannot be overwritten or deleted for the keep period. The audit file has two lines. One is CH-88 result SUCCESS. One is INV-1003 action PROCESS. A printed line is not that control. D1 copied the status Missing. D1 did not invent an owner.</a:t>
            </a:r>
          </a:p>
          <a:p>
            <a:pPr>
              <a:spcAft>
                <a:spcPts val="1000"/>
              </a:spcAft>
            </a:pPr>
            <a:r>
              <a:rPr sz="1400" dirty="0">
                <a:solidFill>
                  <a:srgbClr val="1C2833"/>
                </a:solidFill>
                <a:latin typeface="Calibri"/>
              </a:rPr>
              <a:t>Source files: D1_AsIs_Assessment/03_CONFLICT_REGISTER.md. D1_AsIs_Assessment/04_MISSING_CONTROLS.md.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dirty="0">
                <a:solidFill>
                  <a:srgbClr val="1C2833"/>
                </a:solidFill>
                <a:latin typeface="Calibri"/>
              </a:rPr>
              <a:t>Repo 2.0 is the design. It does not edit the inherited folder and it does not edit D1. The runbook lists ten steps in one order. People sometimes call that list the spine. Each step is one part of the work, from the decision through the tests. Repo 2.0 has one markdown file for each step.</a:t>
            </a:r>
          </a:p>
          <a:p>
            <a:pPr>
              <a:spcAft>
                <a:spcPts val="1000"/>
              </a:spcAft>
            </a:pPr>
            <a:r>
              <a:rPr sz="1400" dirty="0">
                <a:solidFill>
                  <a:srgbClr val="1C2833"/>
                </a:solidFill>
                <a:latin typeface="Calibri"/>
              </a:rPr>
              <a:t>Step 1 names the decision. The outcome words are APPROVE, REVIEW, and REJECT. PROCESS is the old result word. This design stops using PROCESS as an outcome. Written rules pick the outcome. The model only ranks the invoice. A named person releases the payment.</a:t>
            </a:r>
          </a:p>
          <a:p>
            <a:pPr>
              <a:spcAft>
                <a:spcPts val="1000"/>
              </a:spcAft>
            </a:pPr>
            <a:r>
              <a:rPr sz="1400" dirty="0">
                <a:solidFill>
                  <a:srgbClr val="1C2833"/>
                </a:solidFill>
                <a:latin typeface="Calibri"/>
              </a:rPr>
              <a:t>Step 2 keeps the packet numbers. Two paid invoices at 9,800 USD. Alias ids V-201 and V201. An alias is a second id for the same supplier. CH-88 sits the day before INV-1003.</a:t>
            </a:r>
          </a:p>
          <a:p>
            <a:pPr>
              <a:spcAft>
                <a:spcPts val="1000"/>
              </a:spcAft>
            </a:pPr>
            <a:r>
              <a:rPr sz="1400" dirty="0">
                <a:solidFill>
                  <a:srgbClr val="1C2833"/>
                </a:solidFill>
                <a:latin typeface="Calibri"/>
              </a:rPr>
              <a:t>Step 3 is the metric answer. The numbers we report are precision, recall, and false-positive rate. Precision is the share of flagged invoices that were later confirmed bad. Recall is the share of bad invoices the model flagged. False-positive rate is the share of good invoices the model flags. Version p2p-risk-1 stores precision 0.52, recall 0.71, and false-positive rate 0.18. Version p2p-risk-2 stores false-positive rate 0.24. Precision and recall on version 2 are blank. The evaluation file also stores accuracy 0.91 on version 1 and 0.94 on version 2. Those two cells stay as copied facts. We lead with the false-positive rate because version 2 flags more good invoices: 0.24 compared with 0.18. Later we also want PR-AUC. PR-AUC is a ranking score that pays extra attention to the rare bad class. PR-AUC is Missing from the evaluation file. This packet has four invoices. Training on a large labelled set is a later job.</a:t>
            </a:r>
          </a:p>
          <a:p>
            <a:pPr>
              <a:spcAft>
                <a:spcPts val="1000"/>
              </a:spcAft>
            </a:pPr>
            <a:r>
              <a:rPr sz="1400" dirty="0">
                <a:solidFill>
                  <a:srgbClr val="1C2833"/>
                </a:solidFill>
                <a:latin typeface="Calibri"/>
              </a:rPr>
              <a:t>Step 4 joins V-201 and V201 to one official supplier id. If the document read is uncertain, the case goes to a person.</a:t>
            </a:r>
          </a:p>
          <a:p>
            <a:pPr>
              <a:spcAft>
                <a:spcPts val="1000"/>
              </a:spcAft>
            </a:pPr>
            <a:r>
              <a:rPr sz="1400" dirty="0">
                <a:solidFill>
                  <a:srgbClr val="1C2833"/>
                </a:solidFill>
                <a:latin typeface="Calibri"/>
              </a:rPr>
              <a:t>Step 5 connects CH-88 to the invoices that arrive after it. Pay and Notify use a key made from the invoice id plus the step name. A second click with the same key returns the first result.</a:t>
            </a:r>
          </a:p>
          <a:p>
            <a:pPr>
              <a:spcAft>
                <a:spcPts val="1000"/>
              </a:spcAft>
            </a:pPr>
            <a:r>
              <a:rPr sz="1400" dirty="0">
                <a:solidFill>
                  <a:srgbClr val="1C2833"/>
                </a:solidFill>
                <a:latin typeface="Calibri"/>
              </a:rPr>
              <a:t>Step 6 sends three situations to REVIEW. An empty purchase order. A bank change where requester and approver are the same user. The named pair INV-1003 and INV-1004.</a:t>
            </a:r>
          </a:p>
          <a:p>
            <a:pPr>
              <a:spcAft>
                <a:spcPts val="1000"/>
              </a:spcAft>
            </a:pPr>
            <a:r>
              <a:rPr sz="1400" dirty="0">
                <a:solidFill>
                  <a:srgbClr val="1C2833"/>
                </a:solidFill>
                <a:latin typeface="Calibri"/>
              </a:rPr>
              <a:t>Step 7 puts Agree, Disagree, and Override on one screen, with equal weight. A supplier or an analyst can also contest the outcome later.</a:t>
            </a:r>
          </a:p>
          <a:p>
            <a:pPr>
              <a:spcAft>
                <a:spcPts val="1000"/>
              </a:spcAft>
            </a:pPr>
            <a:r>
              <a:rPr sz="1400" dirty="0">
                <a:solidFill>
                  <a:srgbClr val="1C2833"/>
                </a:solidFill>
                <a:latin typeface="Calibri"/>
              </a:rPr>
              <a:t>Step 8 writes the audit row first. Payment status changes only after that write. The owner of P2P-05 is still TBD.</a:t>
            </a:r>
          </a:p>
          <a:p>
            <a:pPr>
              <a:spcAft>
                <a:spcPts val="1000"/>
              </a:spcAft>
            </a:pPr>
            <a:r>
              <a:rPr sz="1400" dirty="0">
                <a:solidFill>
                  <a:srgbClr val="1C2833"/>
                </a:solidFill>
                <a:latin typeface="Calibri"/>
              </a:rPr>
              <a:t>Step 9 tells operations which counts to watch. False-positive rate. How often a person overrides the recommendation. How often the scorer is down. Whether paid cases have an audit row written first.</a:t>
            </a:r>
          </a:p>
          <a:p>
            <a:pPr>
              <a:spcAft>
                <a:spcPts val="1000"/>
              </a:spcAft>
            </a:pPr>
            <a:r>
              <a:rPr sz="1400" dirty="0">
                <a:solidFill>
                  <a:srgbClr val="1C2833"/>
                </a:solidFill>
                <a:latin typeface="Calibri"/>
              </a:rPr>
              <a:t>Step 10 leaves two old tests visible. “Missing PO under threshold” still passed while INV-1003 and INV-1004 took PROCESS. “Exact invoice-number duplicate” still passed while INV-1002 was marked NO_DUPLICATE. New dollar limits stay unset. The label for an unset number is THRESHOLD_UNSET. That means a later decision note must name an owner before anyone codes the number.</a:t>
            </a:r>
          </a:p>
          <a:p>
            <a:pPr>
              <a:spcAft>
                <a:spcPts val="1000"/>
              </a:spcAft>
            </a:pPr>
            <a:r>
              <a:rPr sz="1400" dirty="0">
                <a:solidFill>
                  <a:srgbClr val="1C2833"/>
                </a:solidFill>
                <a:latin typeface="Calibri"/>
              </a:rPr>
              <a:t>Source files: Repo_2_0/README.md. Repo_2_0/C8_CHECK.md. D3_PRD/PRD.md section 11.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a:solidFill>
                  <a:srgbClr val="1C2833"/>
                </a:solidFill>
                <a:latin typeface="Calibri"/>
              </a:rPr>
              <a:t>D3 is the product requirements document. The version is D3a. The file is D3_PRD/PRD.md. The app is allowed to implement this document. The app is not allowed to invent a new dollar cutoff.</a:t>
            </a:r>
          </a:p>
          <a:p>
            <a:pPr>
              <a:spcAft>
                <a:spcPts val="1000"/>
              </a:spcAft>
            </a:pPr>
            <a:r>
              <a:rPr sz="1400">
                <a:solidFill>
                  <a:srgbClr val="1C2833"/>
                </a:solidFill>
                <a:latin typeface="Calibri"/>
              </a:rPr>
              <a:t>The outcome names stay APPROVE, REVIEW, and REJECT. Written rules pick the outcome. A named person owns every REVIEW. That person can agree, disagree, or override. A named person releases the payment. The model rank orders the queue. The rank does not set the invoice to paid.</a:t>
            </a:r>
          </a:p>
          <a:p>
            <a:pPr>
              <a:spcAft>
                <a:spcPts val="1000"/>
              </a:spcAft>
            </a:pPr>
            <a:r>
              <a:rPr sz="1400">
                <a:solidFill>
                  <a:srgbClr val="1C2833"/>
                </a:solidFill>
                <a:latin typeface="Calibri"/>
              </a:rPr>
              <a:t>Read the five acceptance cases as the demo contract.</a:t>
            </a:r>
          </a:p>
          <a:p>
            <a:pPr>
              <a:spcAft>
                <a:spcPts val="1000"/>
              </a:spcAft>
            </a:pPr>
            <a:r>
              <a:rPr sz="1400">
                <a:solidFill>
                  <a:srgbClr val="1C2833"/>
                </a:solidFill>
                <a:latin typeface="Calibri"/>
              </a:rPr>
              <a:t>Case 1. Replay INV-1001, then INV-1002. Same supplier V-201, purchase order PO-7001, amount 9,800, currency USD, different invoice ids. In the inherited log, INV-1002 was marked NO_DUPLICATE because the check used the invoice number only. The requirement sends INV-1002 to REVIEW with reason DUP_SUPPLIER_PO_AMOUNT. The recommended outcome is to reject the second payment. INV-1001 stays the invoice that is already paid.</a:t>
            </a:r>
          </a:p>
          <a:p>
            <a:pPr>
              <a:spcAft>
                <a:spcPts val="1000"/>
              </a:spcAft>
            </a:pPr>
            <a:r>
              <a:rPr sz="1400">
                <a:solidFill>
                  <a:srgbClr val="1C2833"/>
                </a:solidFill>
                <a:latin typeface="Calibri"/>
              </a:rPr>
              <a:t>Case 2. Inject a second 9,800 USD invoice on PO-7001 that uses the raw id V201. After the join, that id is the same supplier as V-201. The case goes to REVIEW with reasons for the alias join and the duplicate match. The two display names stay different: Alpha Industrial Supply and Alpha Industries Supply.</a:t>
            </a:r>
          </a:p>
          <a:p>
            <a:pPr>
              <a:spcAft>
                <a:spcPts val="1000"/>
              </a:spcAft>
            </a:pPr>
            <a:r>
              <a:rPr sz="1400">
                <a:solidFill>
                  <a:srgbClr val="1C2833"/>
                </a:solidFill>
                <a:latin typeface="Calibri"/>
              </a:rPr>
              <a:t>Case 3. CH-88 at 11 August 2026 13:44, requester U22, approver U22, bank XXXX1122 to XXXX9988. Then INV-1003 at 11:15 and INV-1004 at 11:16 on 12 August, empty purchase order, 4,950 plus 4,950 equals 9,900, bank_changed_30d = Y. Both invoices go to REVIEW. Payment does not run. The audit row stores the change id, the sibling pair, the sum 9,900, and the reason codes NON_PO, BANK_CHANGE_LINKED, SOD_SAME_USER_BANK, and SPLIT_SIBLING_SUM. SOD means segregation of duties. CH-88 stays held for a person. The change does not apply itself.</a:t>
            </a:r>
          </a:p>
          <a:p>
            <a:pPr>
              <a:spcAft>
                <a:spcPts val="1000"/>
              </a:spcAft>
            </a:pPr>
            <a:r>
              <a:rPr sz="1400">
                <a:solidFill>
                  <a:srgbClr val="1C2833"/>
                </a:solidFill>
                <a:latin typeface="Calibri"/>
              </a:rPr>
              <a:t>Case 4. Stop the scorer. Outcome REVIEW. The rank field is empty. The reason is SCORER_UNSCORED. The failure path stores an empty score. It does not store 0.</a:t>
            </a:r>
          </a:p>
          <a:p>
            <a:pPr>
              <a:spcAft>
                <a:spcPts val="1000"/>
              </a:spcAft>
            </a:pPr>
            <a:r>
              <a:rPr sz="1400">
                <a:solidFill>
                  <a:srgbClr val="1C2833"/>
                </a:solidFill>
                <a:latin typeface="Calibri"/>
              </a:rPr>
              <a:t>Case 5. On a case that reached APPROVE, call payment twice with the key invoice-id plus the word payment. The payment count stays 1. Do not use INV-1002 for this proof. INV-1002 is REVIEW and does not pay.</a:t>
            </a:r>
          </a:p>
          <a:p>
            <a:pPr>
              <a:spcAft>
                <a:spcPts val="1000"/>
              </a:spcAft>
            </a:pPr>
            <a:r>
              <a:rPr sz="1400">
                <a:solidFill>
                  <a:srgbClr val="1C2833"/>
                </a:solidFill>
                <a:latin typeface="Calibri"/>
              </a:rPr>
              <a:t>Every new numeric limit stays THRESHOLD_UNSET until a later note, called an Architecture Decision Record, names an owner. An Architecture Decision Record is a short written choice: the number, the owner, and why. Until that note exists, the demo still reaches REVIEW with rules that need no new number. Same-user bank change. The named pair INV-1003 and INV-1004. Empty purchase order. Duplicate match. Scorer down.</a:t>
            </a:r>
          </a:p>
          <a:p>
            <a:pPr>
              <a:spcAft>
                <a:spcPts val="1000"/>
              </a:spcAft>
            </a:pPr>
            <a:r>
              <a:rPr sz="1400">
                <a:solidFill>
                  <a:srgbClr val="1C2833"/>
                </a:solidFill>
                <a:latin typeface="Calibri"/>
              </a:rPr>
              <a:t>The two old tests were left visible until this document closed them. Empty purchase order goes to REVIEW. That is acceptance case P2P-AC-008. The duplicate match uses supplier, purchase order, amount, and currency. That is P2P-AC-001. A numeric window for “which other invoices count as siblings” is still unset. The sibling pair in force is only INV-1003 and INV-1004.</a:t>
            </a:r>
          </a:p>
          <a:p>
            <a:pPr>
              <a:spcAft>
                <a:spcPts val="1000"/>
              </a:spcAft>
            </a:pPr>
            <a:r>
              <a:rPr sz="1400">
                <a:solidFill>
                  <a:srgbClr val="1C2833"/>
                </a:solidFill>
                <a:latin typeface="Calibri"/>
              </a:rPr>
              <a:t>Source file: D3_PRD/PRD.md, sections 3 and 10.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a:solidFill>
                  <a:srgbClr val="1C2833"/>
                </a:solidFill>
                <a:latin typeface="Calibri"/>
              </a:rPr>
              <a:t>D4 is the working app. The click notes are from 22 September 2026 on the local app at http://localhost:3000. The hosted Google AI Studio address asked for a Google sign-in, so that hosted page is not the evidence. The model shown in the footer was p2p-risk-2. The rule pack shown on Score + Decide was p2p-rules-v2.0. The requirements version in the footer was D3a.</a:t>
            </a:r>
          </a:p>
          <a:p>
            <a:pPr>
              <a:spcAft>
                <a:spcPts val="1000"/>
              </a:spcAft>
            </a:pPr>
            <a:r>
              <a:rPr sz="1400">
                <a:solidFill>
                  <a:srgbClr val="1C2833"/>
                </a:solidFill>
                <a:latin typeface="Calibri"/>
              </a:rPr>
              <a:t>Walk the path in order so a listener can picture the screens. Ingest selects the invoice. Extract shows the fields: invoice id, supplier, purchase order, amount, currency, approver, the bank-change flag, and a read confidence. Verify checks that the supplier id is consistent. Detect shows duplicate, sibling, and purchase-order checks, plus a rank. Score + Decide applies the written rules and shows which rule ids fired. Review is the human queue. Notify shows the notice payload. Pay runs only after APPROVE. Case History shows the audit row.</a:t>
            </a:r>
          </a:p>
          <a:p>
            <a:pPr>
              <a:spcAft>
                <a:spcPts val="1000"/>
              </a:spcAft>
            </a:pPr>
            <a:r>
              <a:rPr sz="1400">
                <a:solidFill>
                  <a:srgbClr val="1C2833"/>
                </a:solidFill>
                <a:latin typeface="Calibri"/>
              </a:rPr>
              <a:t>Duplicate. On INV-1002, Detect flagged a match to INV-1001. The match key was V-201, PO-7001, 9800. The invoice ids differ. Score + Decide stored outcome REVIEW and recommended REJECT. Rule R-DUP. Reasons DUP_SUPPLIER_PO_AMOUNT and POLICY_REVIEW. The Pay screen said PAYMENT LOCKED. Payment count stayed 0. PASS.</a:t>
            </a:r>
          </a:p>
          <a:p>
            <a:pPr>
              <a:spcAft>
                <a:spcPts val="1000"/>
              </a:spcAft>
            </a:pPr>
            <a:r>
              <a:rPr sz="1400">
                <a:solidFill>
                  <a:srgbClr val="1C2833"/>
                </a:solidFill>
                <a:latin typeface="Calibri"/>
              </a:rPr>
              <a:t>Alias. The button Inject V201 Alias created INV-1006-ALIAS at 9,800 USD. Verify showed raw id V201 and official id V-201. Score + Decide stored REVIEW with rules R-DUP and R-ALIAS. PASS. The rank line on that injected invoice carried the badge SIMULATED. SIMULATED means a stand-in for a service this packet does not call.</a:t>
            </a:r>
          </a:p>
          <a:p>
            <a:pPr>
              <a:spcAft>
                <a:spcPts val="1000"/>
              </a:spcAft>
            </a:pPr>
            <a:r>
              <a:rPr sz="1400">
                <a:solidFill>
                  <a:srgbClr val="1C2833"/>
                </a:solidFill>
                <a:latin typeface="Calibri"/>
              </a:rPr>
              <a:t>Bank change. INV-1003 Verify showed CH-88, requester U22, approver U22, status HELD_FOR_REVIEW, masked account XXXX9988. Detect showed sibling INV-1004 and pair sum 9,900 USD. Both invoices stored REVIEW, recommended REJECT, rules R-SOD-BANK, R-BANK-SPLIT, and R-NONPO. On Review, three buttons had equal weight: Agree REJECT, Disagree and set APPROVE, and Manager Override. Clearing the name and clicking Disagree stayed on Review. The message said a reviewer account name is required. Typing Ada and clicking Disagree set the case list to APPROVE and moved to Notify. Notify count was 0 at that moment. PASS.</a:t>
            </a:r>
          </a:p>
          <a:p>
            <a:pPr>
              <a:spcAft>
                <a:spcPts val="1000"/>
              </a:spcAft>
            </a:pPr>
            <a:r>
              <a:rPr sz="1400">
                <a:solidFill>
                  <a:srgbClr val="1C2833"/>
                </a:solidFill>
                <a:latin typeface="Calibri"/>
              </a:rPr>
              <a:t>Scorer down. INV-1005 started as APPROVE. After the header toggle, Detect showed status UNSCORED, rank NULL, and banner UNSCORED. Score + Decide stored REVIEW with rule R-UNSCORED and reason SCORER_UNSCORED. The notes for that screen record no score of 0. PASS.</a:t>
            </a:r>
          </a:p>
          <a:p>
            <a:pPr>
              <a:spcAft>
                <a:spcPts val="1000"/>
              </a:spcAft>
            </a:pPr>
            <a:r>
              <a:rPr sz="1400">
                <a:solidFill>
                  <a:srgbClr val="1C2833"/>
                </a:solidFill>
                <a:latin typeface="Calibri"/>
              </a:rPr>
              <a:t>Pay twice. This is the retry proof. A second Pay click would write a second payment if there were no key. The key is the invoice id plus the step name. On INV-1005 the count was 0, the first click set it to 1 and status PAID &amp; SETTLED, and the second click kept the count at 1 under key INV-1005:payment. INV-1001 was already paid. Its retry under INV-1001:payment also stayed at 1. Notify on INV-1001 under INV-1001:notify stayed at 1. Those counts are REAL. REAL means this session measured them on the running app. Naive counts and cached counts are Unknown. We did not remove the key check, and the screens did not show a separate cached counter.</a:t>
            </a:r>
          </a:p>
          <a:p>
            <a:pPr>
              <a:spcAft>
                <a:spcPts val="1000"/>
              </a:spcAft>
            </a:pPr>
            <a:r>
              <a:rPr sz="1400">
                <a:solidFill>
                  <a:srgbClr val="1C2833"/>
                </a:solidFill>
                <a:latin typeface="Calibri"/>
              </a:rPr>
              <a:t>The rank on INV-1003 was number 2 of 420. The honesty badge on Detect said PRECOMPUTED. That rank orders the case. It is a classroom order, copied for the demo. The dollar amounts on the case list had no honesty badge.</a:t>
            </a:r>
          </a:p>
          <a:p>
            <a:pPr>
              <a:spcAft>
                <a:spcPts val="1000"/>
              </a:spcAft>
            </a:pPr>
            <a:r>
              <a:rPr sz="1400">
                <a:solidFill>
                  <a:srgbClr val="1C2833"/>
                </a:solidFill>
                <a:latin typeface="Calibri"/>
              </a:rPr>
              <a:t>Source files: D4_App/DEMO_SCRIPT.md. D4_App/TEST_EVIDENCE.md. D4_App/SIDE_EFFECT_COUNTER.md.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a:solidFill>
                  <a:srgbClr val="1C2833"/>
                </a:solidFill>
                <a:latin typeface="Calibri"/>
              </a:rPr>
              <a:t>Rebuild this case out loud. Use only the row that was on screen.</a:t>
            </a:r>
          </a:p>
          <a:p>
            <a:pPr>
              <a:spcAft>
                <a:spcPts val="1000"/>
              </a:spcAft>
            </a:pPr>
            <a:r>
              <a:rPr sz="1400">
                <a:solidFill>
                  <a:srgbClr val="1C2833"/>
                </a:solidFill>
                <a:latin typeface="Calibri"/>
              </a:rPr>
              <a:t>The case is INV-1003 after reviewer Ada clicked Disagree and set APPROVE. Before that click, Case History for INV-1003 showed 0 audit rows and the text “No audit rows written yet for this case.” After the click, the same screen showed state REVIEWED and 1 audit row.</a:t>
            </a:r>
          </a:p>
          <a:p>
            <a:pPr>
              <a:spcAft>
                <a:spcPts val="1000"/>
              </a:spcAft>
            </a:pPr>
            <a:r>
              <a:rPr sz="1400">
                <a:solidFill>
                  <a:srgbClr val="1C2833"/>
                </a:solidFill>
                <a:latin typeface="Calibri"/>
              </a:rPr>
              <a:t>Actor: Ada. From-state: DECIDED. To-state: REVIEWED. The outcome on the same line is APPROVE. The score text on that line is “#2 of 420 cohort.” Cohort here means the set of invoices the demo uses to show order. The number 420 is the set size shown on screen. Detect, earlier on the same case, showed that same rank and a raw index of 0.96. The honesty badge on Detect was PRECOMPUTED. The Case History notes do not record a separate honesty badge on the history line.</a:t>
            </a:r>
          </a:p>
          <a:p>
            <a:pPr>
              <a:spcAft>
                <a:spcPts val="1000"/>
              </a:spcAft>
            </a:pPr>
            <a:r>
              <a:rPr sz="1400">
                <a:solidFill>
                  <a:srgbClr val="1C2833"/>
                </a:solidFill>
                <a:latin typeface="Calibri"/>
              </a:rPr>
              <a:t>Reasons on the row: NON_PO, BANK_CHANGE_LINKED, SOD_SAME_USER_BANK, SPLIT_SIBLING_SUM, POLICY_REVIEW. NON_PO means the purchase order is empty. BANK_CHANGE_LINKED means a bank change is tied to this invoice. SOD_SAME_USER_BANK means the requester and the approver of that bank change are the same user. SPLIT_SIBLING_SUM means the sibling pair sum is stored. POLICY_REVIEW means the written rules chose REVIEW before the person acted.</a:t>
            </a:r>
          </a:p>
          <a:p>
            <a:pPr>
              <a:spcAft>
                <a:spcPts val="1000"/>
              </a:spcAft>
            </a:pPr>
            <a:r>
              <a:rPr sz="1400">
                <a:solidFill>
                  <a:srgbClr val="1C2833"/>
                </a:solidFill>
                <a:latin typeface="Calibri"/>
              </a:rPr>
              <a:t>Model version: p2p-risk-2. Rule version: p2p-rules-v2.0. The row note says the review closed with disposition disagree and the final outcome is APPROVE.</a:t>
            </a:r>
          </a:p>
          <a:p>
            <a:pPr>
              <a:spcAft>
                <a:spcPts val="1000"/>
              </a:spcAft>
            </a:pPr>
            <a:r>
              <a:rPr sz="1400">
                <a:solidFill>
                  <a:srgbClr val="1C2833"/>
                </a:solidFill>
                <a:latin typeface="Calibri"/>
              </a:rPr>
              <a:t>The recommended outcome before the click was REJECT. Rules on Score + Decide were R-SOD-BANK, R-BANK-SPLIT, and R-NONPO. The paragraph on that screen named CH-88, bank XXXX1122 to XXXX9988, requester and approver U22, sibling INV-1004, and sum 9,900 USD.</a:t>
            </a:r>
          </a:p>
          <a:p>
            <a:pPr>
              <a:spcAft>
                <a:spcPts val="1000"/>
              </a:spcAft>
            </a:pPr>
            <a:r>
              <a:rPr sz="1400">
                <a:solidFill>
                  <a:srgbClr val="1C2833"/>
                </a:solidFill>
                <a:latin typeface="Calibri"/>
              </a:rPr>
              <a:t>Prompt id on the recorded row: Unknown. The Case History notes do not list a prompt id.</a:t>
            </a:r>
          </a:p>
          <a:p>
            <a:pPr>
              <a:spcAft>
                <a:spcPts val="1000"/>
              </a:spcAft>
            </a:pPr>
            <a:r>
              <a:rPr sz="1400">
                <a:solidFill>
                  <a:srgbClr val="1C2833"/>
                </a:solidFill>
                <a:latin typeface="Calibri"/>
              </a:rPr>
              <a:t>Say what this click did to the money. Ada set the outcome to APPROVE. The screen moved to Notify. Notify count was 0. That click did not record a payment. Payment is a later step by a named payer. On a different invoice, INV-1005, the payer field showed Michael Vance (Treasurer), and the first Pay click set status paid. Those demo names were typed on the screen. They are not names stored in the inherited files. Repo 1.0 does not name the person who pressed pay. That role stays Missing until a later note names it.</a:t>
            </a:r>
          </a:p>
          <a:p>
            <a:pPr>
              <a:spcAft>
                <a:spcPts val="1000"/>
              </a:spcAft>
            </a:pPr>
            <a:r>
              <a:rPr sz="1400">
                <a:solidFill>
                  <a:srgbClr val="1C2833"/>
                </a:solidFill>
                <a:latin typeface="Calibri"/>
              </a:rPr>
              <a:t>The inherited audit trail for this invoice was one line: 12 August 2026 at 11:15:03, invoice INV-1003, action PROCESS. That line left out the actor, the from-state, the to-state, the score, the reason codes, the model version, and the rule version. It also said no vendor-change evidence was linked to the payment decision. The D4 row now stores the actor, the two states, the rank text, the five reason codes, the model version, and the rule version. Whether the Case History header showed the change id CH-88 as its own field in this session is Unknown. The click notes did not record that field. Score + Decide did name CH-88 in the paragraph.</a:t>
            </a:r>
          </a:p>
          <a:p>
            <a:pPr>
              <a:spcAft>
                <a:spcPts val="1000"/>
              </a:spcAft>
            </a:pPr>
            <a:r>
              <a:rPr sz="1400">
                <a:solidFill>
                  <a:srgbClr val="1C2833"/>
                </a:solidFill>
                <a:latin typeface="Calibri"/>
              </a:rPr>
              <a:t>Source files: D4_App/TEST_EVIDENCE.md, rebuild check. D4_App/DEMO_SCRIPT.md, the 12:00 Case History section. D1_AsIs_Assessment/01_SPINE_NOTES.md, spine step 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a:solidFill>
                  <a:srgbClr val="1C2833"/>
                </a:solidFill>
                <a:latin typeface="Calibri"/>
              </a:rPr>
              <a:t>Close by naming what we left open. These are not guesses. Each one is Unknown, Missing, or unset because the files do not contain the fact.</a:t>
            </a:r>
          </a:p>
          <a:p>
            <a:pPr>
              <a:spcAft>
                <a:spcPts val="1000"/>
              </a:spcAft>
            </a:pPr>
            <a:r>
              <a:rPr sz="1400">
                <a:solidFill>
                  <a:srgbClr val="1C2833"/>
                </a:solidFill>
                <a:latin typeface="Calibri"/>
              </a:rPr>
              <a:t>Legal scope is Unknown. A change request called CR-REG-01 asks Legal and Finance Controls which statutes and internal policies apply, including sanctions, politically exposed persons, and address checks. A politically exposed person is a person in a public role who needs extra screening. The invoice rows have no country field, so we did not invent a geography feed.</a:t>
            </a:r>
          </a:p>
          <a:p>
            <a:pPr>
              <a:spcAft>
                <a:spcPts val="1000"/>
              </a:spcAft>
            </a:pPr>
            <a:r>
              <a:rPr sz="1400">
                <a:solidFill>
                  <a:srgbClr val="1C2833"/>
                </a:solidFill>
                <a:latin typeface="Calibri"/>
              </a:rPr>
              <a:t>The goods-receipt file is Missing. A goods receipt is the record that the goods arrived. The current-flow note names that step. The data folder has no goods-receipt file. The price catalog is Unknown. The model card lists amount as a feature. The packet has no price list, so Detect does not invent one.</a:t>
            </a:r>
          </a:p>
          <a:p>
            <a:pPr>
              <a:spcAft>
                <a:spcPts val="1000"/>
              </a:spcAft>
            </a:pPr>
            <a:r>
              <a:rPr sz="1400">
                <a:solidFill>
                  <a:srgbClr val="1C2833"/>
                </a:solidFill>
                <a:latin typeface="Calibri"/>
              </a:rPr>
              <a:t>People who must be named later: the person who owns REVIEW, the payer role, the model owner, the data owner, and the owner of P2P-05. Until that note exists, the queue uses the nearest control owner already in the matrix. Accounts payable for a duplicate. Procurement for a missing purchase order. Finance Controls when a segregation flag is present. Master Data for a bank change. On INV-1003 those flags fire together, so Finance Controls is the closer until the note names one person. The demo names Ada and Michael Vance were typed on the screen.</a:t>
            </a:r>
          </a:p>
          <a:p>
            <a:pPr>
              <a:spcAft>
                <a:spcPts val="1000"/>
              </a:spcAft>
            </a:pPr>
            <a:r>
              <a:rPr sz="1400">
                <a:solidFill>
                  <a:srgbClr val="1C2833"/>
                </a:solidFill>
                <a:latin typeface="Calibri"/>
              </a:rPr>
              <a:t>Numbers that stay THRESHOLD_UNSET: new amount lines, the sibling time window, contest days, retention days, timeouts, and a false-positive target. The sibling evidence in force is the named pair only. INV-1003 and INV-1004. 4,950 plus 4,950 equals 9,900. Process times 11:15 and 11:16 on 12 August 2026.</a:t>
            </a:r>
          </a:p>
          <a:p>
            <a:pPr>
              <a:spcAft>
                <a:spcPts val="1000"/>
              </a:spcAft>
            </a:pPr>
            <a:r>
              <a:rPr sz="1400">
                <a:solidFill>
                  <a:srgbClr val="1C2833"/>
                </a:solidFill>
                <a:latin typeface="Calibri"/>
              </a:rPr>
              <a:t>Model gaps. Precision and recall on p2p-risk-2 are blank. PR-AUC is Missing. Residual miss is the share of bad payments the live route still lets through. That share has not been measured. Staffing for the REVIEW queue has not been measured. The classroom catch rate on the metrics page was 4 of 4 packet patterns. That figure is EDUCATIONAL. EDUCATIONAL means a classroom walk-through on these four invoices. It is not an official test-set result.</a:t>
            </a:r>
          </a:p>
          <a:p>
            <a:pPr>
              <a:spcAft>
                <a:spcPts val="1000"/>
              </a:spcAft>
            </a:pPr>
            <a:r>
              <a:rPr sz="1400">
                <a:solidFill>
                  <a:srgbClr val="1C2833"/>
                </a:solidFill>
                <a:latin typeface="Calibri"/>
              </a:rPr>
              <a:t>Retry. The safe payment count on INV-1005 stayed at 1. Safe means the write went through the key. Naive means the count if someone removes the key check. Cached means a separate counter that returns a stored result and skips a new write. Naive and cached are Unknown.</a:t>
            </a:r>
          </a:p>
          <a:p>
            <a:pPr>
              <a:spcAft>
                <a:spcPts val="1000"/>
              </a:spcAft>
            </a:pPr>
            <a:r>
              <a:rPr sz="1400">
                <a:solidFill>
                  <a:srgbClr val="1C2833"/>
                </a:solidFill>
                <a:latin typeface="Calibri"/>
              </a:rPr>
              <a:t>Two clicks were not in the 22 September notes. Open Contest on the Notify screen was not recorded. The code path exists: it writes event ESC_CONTEST, appends an audit row, and returns the case to IN_REVIEW. A supplier or an accounts-payable analyst may contest APPROVE, a REVIEW delay, or REJECT. The original audit row stays. A new row links to it. The days allowed to contest are unset. Also, we did not try to write the same audit id a second time, so we do not have a measured refusal. The WORM screen after Reset showed one locked row and no delete button. WORM means write once, read many. After lock, delete and overwrite are refused for the keep period. In this demo that list lives in the browser. It is a classroom copy of that store. The keep period in days is unset.</a:t>
            </a:r>
          </a:p>
          <a:p>
            <a:pPr>
              <a:spcAft>
                <a:spcPts val="1000"/>
              </a:spcAft>
            </a:pPr>
            <a:r>
              <a:rPr sz="1400">
                <a:solidFill>
                  <a:srgbClr val="1C2833"/>
                </a:solidFill>
                <a:latin typeface="Calibri"/>
              </a:rPr>
              <a:t>P2P-05 stays Missing with owner TBD. We treated the missing control as missing. The two inherited audit lines do not create it.</a:t>
            </a:r>
          </a:p>
          <a:p>
            <a:pPr>
              <a:spcAft>
                <a:spcPts val="1000"/>
              </a:spcAft>
            </a:pPr>
            <a:r>
              <a:rPr sz="1400">
                <a:solidFill>
                  <a:srgbClr val="1C2833"/>
                </a:solidFill>
                <a:latin typeface="Calibri"/>
              </a:rPr>
              <a:t>Source files: D3_PRD/PRD.md, the section “What stays open on purpose.” D4_App/TEST_EVIDENCE.md. D4_App/SIDE_EFFECT_COUNTER.md. D1_AsIs_Assessment/04_MISSING_CONTROLS.md.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dirty="0">
                <a:solidFill>
                  <a:srgbClr val="1C2833"/>
                </a:solidFill>
                <a:latin typeface="Calibri"/>
              </a:rPr>
              <a:t>This appendix slide compares two things. On the left is Repo 1.0, the inherited folder 05_procure_to_pay_exception_repo_1_0. That folder is files. It has no screens to click. On the right is the D4 app, the running demo. The design for that app is Repo 2.0. The click notes are from 22 September 2026 on the local app.</a:t>
            </a:r>
          </a:p>
          <a:p>
            <a:pPr>
              <a:spcAft>
                <a:spcPts val="1000"/>
              </a:spcAft>
            </a:pPr>
            <a:r>
              <a:rPr sz="1400" dirty="0">
                <a:solidFill>
                  <a:srgbClr val="1C2833"/>
                </a:solidFill>
                <a:latin typeface="Calibri"/>
              </a:rPr>
              <a:t>Start with features, then limitations. Say one worked case on each side.</a:t>
            </a:r>
          </a:p>
          <a:p>
            <a:pPr>
              <a:spcAft>
                <a:spcPts val="1000"/>
              </a:spcAft>
            </a:pPr>
            <a:r>
              <a:rPr sz="1400" dirty="0">
                <a:solidFill>
                  <a:srgbClr val="1C2833"/>
                </a:solidFill>
                <a:latin typeface="Calibri"/>
              </a:rPr>
              <a:t>Repo 1.0 features. The folder stores invoices INV-1001 through INV-1004, changes CH-88 and CH-89, supplier alias names, the rule file, the approval matrix, the model card for p2p-risk-2, and controls P2P-01 through P2P-05. The duplicate check method in the log is </a:t>
            </a:r>
            <a:r>
              <a:rPr sz="1400" dirty="0" err="1">
                <a:solidFill>
                  <a:srgbClr val="1C2833"/>
                </a:solidFill>
                <a:latin typeface="Calibri"/>
              </a:rPr>
              <a:t>invoice_number_only</a:t>
            </a:r>
            <a:r>
              <a:rPr sz="1400" dirty="0">
                <a:solidFill>
                  <a:srgbClr val="1C2833"/>
                </a:solidFill>
                <a:latin typeface="Calibri"/>
              </a:rPr>
              <a:t>. The rule file sends an empty purchase order under 5,000 to PROCESS. PROCESS is the old result word. A bank change goes to REVIEW only when the amount is over 10,000. INV-1003 is 4,950, so that review rule does not fire.</a:t>
            </a:r>
          </a:p>
          <a:p>
            <a:pPr>
              <a:spcAft>
                <a:spcPts val="1000"/>
              </a:spcAft>
            </a:pPr>
            <a:r>
              <a:rPr sz="1400" dirty="0">
                <a:solidFill>
                  <a:srgbClr val="1C2833"/>
                </a:solidFill>
                <a:latin typeface="Calibri"/>
              </a:rPr>
              <a:t>Repo 1.0 limitations. INV-1001 and INV-1002 share supplier V-201, purchase order PO-7001, and 9,800 USD. Both are paid. At 12:01 on 12 August 2026 the log stored NO_DUPLICATE because the invoice numbers differ. INV-1003 at 11:15 and INV-1004 at 11:16 are 4,950 USD each, empty purchase order, bank_changed_30d = Y. The pair is 9,900. Both took NON_PO_UNDER_5000 and PROCESS. CH-88 the day before has requester U22 and approver U22, and the audit line stores SUCCESS. The same audit file says no vendor-change evidence is linked to the payment decision. Control P2P-05, the locked payment-decision record, is Missing. The owner cell is TBD. The files store no payment retry key. The test list says model outage is not tested, so the scorer-down path is Unknown. Review sits in an email inbox. There is no stored contest path.</a:t>
            </a:r>
          </a:p>
          <a:p>
            <a:pPr>
              <a:spcAft>
                <a:spcPts val="1000"/>
              </a:spcAft>
            </a:pPr>
            <a:r>
              <a:rPr sz="1400" dirty="0">
                <a:solidFill>
                  <a:srgbClr val="1C2833"/>
                </a:solidFill>
                <a:latin typeface="Calibri"/>
              </a:rPr>
              <a:t>The model numbers on the left are a flaw in the evidence, not a quality claim. False-positive rate is the share of good invoices the model flags. p2p-risk-2 flags 0.24. p2p-risk-1 flags 0.18. Precision and recall on version 2 are blank. The evaluation file also stores accuracy 0.91 and 0.94 as copied cells. We lead with the false-positive rate.</a:t>
            </a:r>
          </a:p>
          <a:p>
            <a:pPr>
              <a:spcAft>
                <a:spcPts val="1000"/>
              </a:spcAft>
            </a:pPr>
            <a:r>
              <a:rPr sz="1400" dirty="0">
                <a:solidFill>
                  <a:srgbClr val="1C2833"/>
                </a:solidFill>
                <a:latin typeface="Calibri"/>
              </a:rPr>
              <a:t>D4 features. A person can walk Ingest, Extract, Verify, Detect, Score + Decide, Review, Notify, Pay, and Case History. The outcome words are APPROVE, REVIEW, and REJECT. On Review, Disagree sits on the same screen as Agree. Ada closed INV-1003 by disagreeing. That click did not pay. On INV-1005 the payer name on screen was Michael Vance, and the first Pay click set the count to 1. INV-1002 went to REVIEW with reason DUP_SUPPLIER_PO_AMOUNT. Payment count stayed 0. Injected invoice INV-1006-ALIAS used raw id V201 and joined to V-201. INV-1003 and INV-1004 stayed REVIEW, with CH-88, same user U22, sibling sum 9,900, and rules R-SOD-BANK, R-BANK-SPLIT, and R-NONPO. Pay retry on INV-1005 used key INV-1005:payment. The count went from 0 to 1 and stayed 1. Scorer down on INV-1005 showed rank NULL and outcome REVIEW. The notes record no score of 0.</a:t>
            </a:r>
          </a:p>
          <a:p>
            <a:pPr>
              <a:spcAft>
                <a:spcPts val="1000"/>
              </a:spcAft>
            </a:pPr>
            <a:r>
              <a:rPr sz="1400" dirty="0">
                <a:solidFill>
                  <a:srgbClr val="1C2833"/>
                </a:solidFill>
                <a:latin typeface="Calibri"/>
              </a:rPr>
              <a:t>D4 limitations. These stay open. The hosted Studio page stopped at Google sign-in, so the evidence is the local app. The P2P-05 owner is still TBD. New amount lines, the sibling time window, contest days, and retention days stay unset. The goods-receipt file is still Missing. A goods receipt is the record that the goods arrived. Precision and recall on p2p-risk-2 are still blank. PR-AUC is Missing. PR-AUC is a ranking score that pays extra attention to the rare bad class. The 22 September notes do not record an Open Contest click. A second write of the same audit id was not attempted. Naive and cached Pay counts are Unknown. The safe count on INV-1005 stayed at 1. The audit list in the demo lives in the browser. It is a classroom copy of a write-once store.</a:t>
            </a:r>
          </a:p>
          <a:p>
            <a:pPr>
              <a:spcAft>
                <a:spcPts val="1000"/>
              </a:spcAft>
            </a:pPr>
            <a:r>
              <a:rPr sz="1400" dirty="0">
                <a:solidFill>
                  <a:srgbClr val="1C2833"/>
                </a:solidFill>
                <a:latin typeface="Calibri"/>
              </a:rPr>
              <a:t>Source files for the left column: D1_AsIs_Assessment/02_CASE_REPLAY.md. D1_AsIs_Assessment/04_MISSING_CONTROLS.md. D1_AsIs_Assessment/00_LOCKED_FACTS.md. Source files for the right column: D4_App/TEST_EVIDENCE.md. D4_App/DEMO_SCRIPT.md. D4_App/SIDE_EFFECT_COUNTER.md. The design those screens follow is Repo_2_0/README.md and D3_PRD/PRD.md.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400" dirty="0">
                <a:solidFill>
                  <a:srgbClr val="1C2833"/>
                </a:solidFill>
                <a:latin typeface="Calibri"/>
              </a:rPr>
              <a:t>This appendix slide takes the four flaws from the Repo 1.0 column and says what the D4 app did with each one on 22 September 2026. Repo 1.0 is the inherited file folder. The D4 app is the running demo built from the Repo 2.0 design. Say what the app did. Then say what is still open.</a:t>
            </a:r>
          </a:p>
          <a:p>
            <a:pPr>
              <a:spcAft>
                <a:spcPts val="800"/>
              </a:spcAft>
            </a:pPr>
            <a:r>
              <a:rPr sz="1400" b="1" u="sng" dirty="0">
                <a:solidFill>
                  <a:srgbClr val="1C2833"/>
                </a:solidFill>
                <a:latin typeface="Calibri"/>
              </a:rPr>
              <a:t>Flaw 1. </a:t>
            </a:r>
            <a:r>
              <a:rPr sz="1400" dirty="0">
                <a:solidFill>
                  <a:srgbClr val="1C2833"/>
                </a:solidFill>
                <a:latin typeface="Calibri"/>
              </a:rPr>
              <a:t>The paid duplicate. In the inherited files, INV-1001 and INV-1002 are both paid at 9,800 USD, supplier V-201, purchase order PO-7001. At 12:01 on 12 August 2026 the log stored NO_DUPLICATE because the method was </a:t>
            </a:r>
            <a:r>
              <a:rPr sz="1400" dirty="0" err="1">
                <a:solidFill>
                  <a:srgbClr val="1C2833"/>
                </a:solidFill>
                <a:latin typeface="Calibri"/>
              </a:rPr>
              <a:t>invoice_number_only</a:t>
            </a:r>
            <a:r>
              <a:rPr sz="1400" dirty="0">
                <a:solidFill>
                  <a:srgbClr val="1C2833"/>
                </a:solidFill>
                <a:latin typeface="Calibri"/>
              </a:rPr>
              <a:t>. The invoice numbers differ, so that check missed the pair. In the D4 app, Detect on INV-1002 flagged the match. The match key was V-201, PO-7001, 9800. </a:t>
            </a:r>
            <a:r>
              <a:rPr sz="1400" b="1" dirty="0">
                <a:solidFill>
                  <a:srgbClr val="1C2833"/>
                </a:solidFill>
                <a:latin typeface="Calibri"/>
              </a:rPr>
              <a:t>Score + Decide stored outcome REVIEW </a:t>
            </a:r>
            <a:r>
              <a:rPr sz="1400" dirty="0">
                <a:solidFill>
                  <a:srgbClr val="1C2833"/>
                </a:solidFill>
                <a:latin typeface="Calibri"/>
              </a:rPr>
              <a:t>and </a:t>
            </a:r>
            <a:r>
              <a:rPr sz="1400" b="1" dirty="0">
                <a:solidFill>
                  <a:srgbClr val="1C2833"/>
                </a:solidFill>
                <a:latin typeface="Calibri"/>
              </a:rPr>
              <a:t>recommended REJECT.</a:t>
            </a:r>
            <a:r>
              <a:rPr sz="1400" dirty="0">
                <a:solidFill>
                  <a:srgbClr val="1C2833"/>
                </a:solidFill>
                <a:latin typeface="Calibri"/>
              </a:rPr>
              <a:t> The reason is </a:t>
            </a:r>
            <a:r>
              <a:rPr sz="1400" b="1" dirty="0">
                <a:solidFill>
                  <a:srgbClr val="1C2833"/>
                </a:solidFill>
                <a:latin typeface="Calibri"/>
              </a:rPr>
              <a:t>DUP_SUPPLIER_PO_AMOUNT</a:t>
            </a:r>
            <a:r>
              <a:rPr sz="1400" dirty="0">
                <a:solidFill>
                  <a:srgbClr val="1C2833"/>
                </a:solidFill>
                <a:latin typeface="Calibri"/>
              </a:rPr>
              <a:t>. The Pay screen said payment is locked while the outcome is REVIEW. Payment count stayed 0. That case passed.</a:t>
            </a:r>
          </a:p>
          <a:p>
            <a:pPr>
              <a:spcAft>
                <a:spcPts val="800"/>
              </a:spcAft>
            </a:pPr>
            <a:r>
              <a:rPr sz="1400" b="1" u="sng" dirty="0">
                <a:solidFill>
                  <a:srgbClr val="1C2833"/>
                </a:solidFill>
                <a:latin typeface="Calibri"/>
              </a:rPr>
              <a:t>Flaw 2. </a:t>
            </a:r>
            <a:r>
              <a:rPr sz="1400" dirty="0">
                <a:solidFill>
                  <a:srgbClr val="1C2833"/>
                </a:solidFill>
                <a:latin typeface="Calibri"/>
              </a:rPr>
              <a:t>The split pair and the unlinked bank change. INV-1003 at 11:15 and INV-1004 at 11:16 are 4,950 USD each. Together they are 9,900. Both took rule NON_PO_UNDER_5000 and result PROCESS. CH-88 the day before changed the V-311 bank account from XXXX1122 to XXXX9988. </a:t>
            </a:r>
            <a:r>
              <a:rPr sz="1400" b="1" dirty="0">
                <a:solidFill>
                  <a:srgbClr val="1C2833"/>
                </a:solidFill>
                <a:latin typeface="Calibri"/>
              </a:rPr>
              <a:t>Requester U22. Approver U22.</a:t>
            </a:r>
            <a:r>
              <a:rPr sz="1400" dirty="0">
                <a:solidFill>
                  <a:srgbClr val="1C2833"/>
                </a:solidFill>
                <a:latin typeface="Calibri"/>
              </a:rPr>
              <a:t> The audit line for INV-1003 says </a:t>
            </a:r>
            <a:r>
              <a:rPr sz="1400" b="1" dirty="0">
                <a:solidFill>
                  <a:srgbClr val="1C2833"/>
                </a:solidFill>
                <a:latin typeface="Calibri"/>
              </a:rPr>
              <a:t>action PROCESS </a:t>
            </a:r>
            <a:r>
              <a:rPr sz="1400" dirty="0">
                <a:solidFill>
                  <a:srgbClr val="1C2833"/>
                </a:solidFill>
                <a:latin typeface="Calibri"/>
              </a:rPr>
              <a:t>and says </a:t>
            </a:r>
            <a:r>
              <a:rPr sz="1400" b="1" u="sng" dirty="0">
                <a:solidFill>
                  <a:srgbClr val="1C2833"/>
                </a:solidFill>
                <a:latin typeface="Calibri"/>
              </a:rPr>
              <a:t>no vendor-change evidence is linked to the payment decision</a:t>
            </a:r>
            <a:r>
              <a:rPr sz="1400" u="sng" dirty="0">
                <a:solidFill>
                  <a:srgbClr val="1C2833"/>
                </a:solidFill>
                <a:latin typeface="Calibri"/>
              </a:rPr>
              <a:t>.</a:t>
            </a:r>
            <a:r>
              <a:rPr sz="1400" dirty="0">
                <a:solidFill>
                  <a:srgbClr val="1C2833"/>
                </a:solidFill>
                <a:latin typeface="Calibri"/>
              </a:rPr>
              <a:t> In the D4 app both </a:t>
            </a:r>
            <a:r>
              <a:rPr sz="1400" b="1" dirty="0">
                <a:solidFill>
                  <a:srgbClr val="1C2833"/>
                </a:solidFill>
                <a:latin typeface="Calibri"/>
              </a:rPr>
              <a:t>invoices stay REVIEW </a:t>
            </a:r>
            <a:r>
              <a:rPr sz="1400" dirty="0">
                <a:solidFill>
                  <a:srgbClr val="1C2833"/>
                </a:solidFill>
                <a:latin typeface="Calibri"/>
              </a:rPr>
              <a:t>until a person acts. Verify on INV-1003 showed record CH-88, requester U22, approver U22, and </a:t>
            </a:r>
            <a:r>
              <a:rPr sz="1400" b="1" dirty="0">
                <a:solidFill>
                  <a:srgbClr val="1C2833"/>
                </a:solidFill>
                <a:latin typeface="Calibri"/>
              </a:rPr>
              <a:t>status HELD_FOR_REVIEW</a:t>
            </a:r>
            <a:r>
              <a:rPr sz="1400" dirty="0">
                <a:solidFill>
                  <a:srgbClr val="1C2833"/>
                </a:solidFill>
                <a:latin typeface="Calibri"/>
              </a:rPr>
              <a:t>. Detect showed sibling INV-1004 and pair sum 9,900 USD. </a:t>
            </a:r>
            <a:r>
              <a:rPr sz="1400" b="1" dirty="0">
                <a:solidFill>
                  <a:srgbClr val="1C2833"/>
                </a:solidFill>
                <a:latin typeface="Calibri"/>
              </a:rPr>
              <a:t>Score + Decide showed rules R-SOD-BANK, R-BANK-SPLIT, and R-NONPO</a:t>
            </a:r>
            <a:r>
              <a:rPr sz="1400" dirty="0">
                <a:solidFill>
                  <a:srgbClr val="1C2833"/>
                </a:solidFill>
                <a:latin typeface="Calibri"/>
              </a:rPr>
              <a:t>. The reasons include NON_PO, BANK_CHANGE_LINKED, SOD_SAME_USER_BANK, and SPLIT_SIBLING_SUM. The paragraph on that screen names CH-88. After Ada closed the review, </a:t>
            </a:r>
            <a:r>
              <a:rPr sz="1400" b="1" u="sng" dirty="0">
                <a:solidFill>
                  <a:srgbClr val="1C2833"/>
                </a:solidFill>
                <a:latin typeface="Calibri"/>
              </a:rPr>
              <a:t>Case History stored those reason codes, including BANK_CHANGE_LINKED</a:t>
            </a:r>
            <a:r>
              <a:rPr sz="1400" b="1" dirty="0">
                <a:solidFill>
                  <a:srgbClr val="1C2833"/>
                </a:solidFill>
                <a:latin typeface="Calibri"/>
              </a:rPr>
              <a:t>.</a:t>
            </a:r>
            <a:r>
              <a:rPr sz="1400" dirty="0">
                <a:solidFill>
                  <a:srgbClr val="1C2833"/>
                </a:solidFill>
                <a:latin typeface="Calibri"/>
              </a:rPr>
              <a:t> The click notes did not record the change id CH-88 as its own field on that history row. That field on the history header is Unknown for this session.</a:t>
            </a:r>
          </a:p>
          <a:p>
            <a:pPr>
              <a:spcAft>
                <a:spcPts val="800"/>
              </a:spcAft>
            </a:pPr>
            <a:endParaRPr lang="en-US" sz="1400" b="1" u="sng" dirty="0">
              <a:solidFill>
                <a:srgbClr val="1C2833"/>
              </a:solidFill>
              <a:latin typeface="Calibri"/>
            </a:endParaRPr>
          </a:p>
          <a:p>
            <a:pPr>
              <a:spcAft>
                <a:spcPts val="800"/>
              </a:spcAft>
            </a:pPr>
            <a:r>
              <a:rPr sz="1400" b="1" u="sng" dirty="0">
                <a:solidFill>
                  <a:srgbClr val="1C2833"/>
                </a:solidFill>
                <a:latin typeface="Calibri"/>
              </a:rPr>
              <a:t>Flaw 3. </a:t>
            </a:r>
            <a:r>
              <a:rPr sz="1400" dirty="0">
                <a:solidFill>
                  <a:srgbClr val="1C2833"/>
                </a:solidFill>
                <a:latin typeface="Calibri"/>
              </a:rPr>
              <a:t>The missing payment record, </a:t>
            </a:r>
            <a:r>
              <a:rPr sz="1400" b="1" dirty="0">
                <a:solidFill>
                  <a:srgbClr val="1C2833"/>
                </a:solidFill>
                <a:latin typeface="Calibri"/>
              </a:rPr>
              <a:t>the missing retry key</a:t>
            </a:r>
            <a:r>
              <a:rPr sz="1400" dirty="0">
                <a:solidFill>
                  <a:srgbClr val="1C2833"/>
                </a:solidFill>
                <a:latin typeface="Calibri"/>
              </a:rPr>
              <a:t>, and the </a:t>
            </a:r>
            <a:r>
              <a:rPr sz="1400" b="1" dirty="0">
                <a:solidFill>
                  <a:srgbClr val="1C2833"/>
                </a:solidFill>
                <a:latin typeface="Calibri"/>
              </a:rPr>
              <a:t>unknown scorer path</a:t>
            </a:r>
            <a:r>
              <a:rPr sz="1400" dirty="0">
                <a:solidFill>
                  <a:srgbClr val="1C2833"/>
                </a:solidFill>
                <a:latin typeface="Calibri"/>
              </a:rPr>
              <a:t>. Control P2P-05 is immutable payment decision evidence. In Repo 1.0 the </a:t>
            </a:r>
            <a:r>
              <a:rPr sz="1400" b="1" dirty="0">
                <a:solidFill>
                  <a:srgbClr val="1C2833"/>
                </a:solidFill>
                <a:latin typeface="Calibri"/>
              </a:rPr>
              <a:t>status is Missing</a:t>
            </a:r>
            <a:r>
              <a:rPr sz="1400" dirty="0">
                <a:solidFill>
                  <a:srgbClr val="1C2833"/>
                </a:solidFill>
                <a:latin typeface="Calibri"/>
              </a:rPr>
              <a:t> and the owner is TBD. Immutable means the record cannot be overwritten or deleted for the keep period. The inherited files also store no payment retry key. The test list says </a:t>
            </a:r>
            <a:r>
              <a:rPr sz="1400" b="1" dirty="0">
                <a:solidFill>
                  <a:srgbClr val="1C2833"/>
                </a:solidFill>
                <a:latin typeface="Calibri"/>
              </a:rPr>
              <a:t>a model outage is not tested, so the scorer-down path is Unknown. In the D4 app, payment uses a key made from the invoice id plus the word payment. On INV-1005 the count was 0. The first click set it to 1 and status PAID &amp; SETTLED, and stored audit id AUDIT-INV-1005-PAY. </a:t>
            </a:r>
            <a:r>
              <a:rPr sz="1400" dirty="0">
                <a:solidFill>
                  <a:srgbClr val="1C2833"/>
                </a:solidFill>
                <a:latin typeface="Calibri"/>
              </a:rPr>
              <a:t>The write-once reference count went from 1 row to 2 rows. The second click kept the count at 1 under key INV-1005:payment. </a:t>
            </a:r>
            <a:endParaRPr lang="en-US" sz="1400" dirty="0">
              <a:solidFill>
                <a:srgbClr val="1C2833"/>
              </a:solidFill>
              <a:latin typeface="Calibri"/>
            </a:endParaRPr>
          </a:p>
          <a:p>
            <a:pPr>
              <a:spcAft>
                <a:spcPts val="800"/>
              </a:spcAft>
            </a:pPr>
            <a:endParaRPr lang="en-US" sz="1400" dirty="0">
              <a:solidFill>
                <a:srgbClr val="1C2833"/>
              </a:solidFill>
              <a:latin typeface="Calibri"/>
            </a:endParaRPr>
          </a:p>
          <a:p>
            <a:pPr>
              <a:spcAft>
                <a:spcPts val="800"/>
              </a:spcAft>
            </a:pPr>
            <a:r>
              <a:rPr sz="1400" dirty="0">
                <a:solidFill>
                  <a:srgbClr val="1C2833"/>
                </a:solidFill>
                <a:latin typeface="Calibri"/>
              </a:rPr>
              <a:t>When </a:t>
            </a:r>
            <a:r>
              <a:rPr sz="1400" b="1" dirty="0">
                <a:solidFill>
                  <a:srgbClr val="1C2833"/>
                </a:solidFill>
                <a:latin typeface="Calibri"/>
              </a:rPr>
              <a:t>the scorer was switched down, INV-1005 showed rank NULL, banner UNSCORED, and outcome REVIEW</a:t>
            </a:r>
            <a:r>
              <a:rPr sz="1400" dirty="0">
                <a:solidFill>
                  <a:srgbClr val="1C2833"/>
                </a:solidFill>
                <a:latin typeface="Calibri"/>
              </a:rPr>
              <a:t>. The notes record no score of 0. Two limits stay. The P2P-05 owner is still TBD. A second write of the same audit id was not attempted, so a measured refusal is Unknown. The demo list lives in the browser. It is a classroom copy of a </a:t>
            </a:r>
            <a:r>
              <a:rPr sz="1400" b="1" u="sng" dirty="0">
                <a:solidFill>
                  <a:srgbClr val="1C2833"/>
                </a:solidFill>
                <a:latin typeface="Calibri"/>
              </a:rPr>
              <a:t>write-once store.</a:t>
            </a:r>
          </a:p>
          <a:p>
            <a:pPr>
              <a:spcAft>
                <a:spcPts val="800"/>
              </a:spcAft>
            </a:pPr>
            <a:endParaRPr lang="en-US" sz="1400" b="1" u="sng" dirty="0">
              <a:solidFill>
                <a:srgbClr val="1C2833"/>
              </a:solidFill>
              <a:latin typeface="Calibri"/>
            </a:endParaRPr>
          </a:p>
          <a:p>
            <a:pPr>
              <a:spcAft>
                <a:spcPts val="800"/>
              </a:spcAft>
            </a:pPr>
            <a:r>
              <a:rPr sz="1400" b="1" u="sng" dirty="0">
                <a:solidFill>
                  <a:srgbClr val="1C2833"/>
                </a:solidFill>
                <a:latin typeface="Calibri"/>
              </a:rPr>
              <a:t>Flaw 4. </a:t>
            </a:r>
            <a:r>
              <a:rPr sz="1400" dirty="0">
                <a:solidFill>
                  <a:srgbClr val="1C2833"/>
                </a:solidFill>
                <a:latin typeface="Calibri"/>
              </a:rPr>
              <a:t>The model evidence. False-positive rate is the share of good invoices the model flags. p2p-risk-2 flags 0.24. p2p-risk-1 flags 0.18. Precision and recall on p2p-risk-2 are blank. p2p-risk-1 stores precision 0.52 and recall 0.71. The D4 metrics page showed those cells. It showed a classroom catch rate of 4 of 4 packet patterns. It did not show an accuracy 0.94 figure. The rank on a case is an order in the demo set. A named person releases payment. The rank does not set the invoice to paid. What this slide does not claim: the app did not fill the blank precision and recall, and it did not measure a new false-positive rate. PR-AUC is still Missing. PR-AUC is a ranking score that pays extra attention to the rare bad class.</a:t>
            </a:r>
          </a:p>
          <a:p>
            <a:pPr>
              <a:spcAft>
                <a:spcPts val="800"/>
              </a:spcAft>
            </a:pPr>
            <a:r>
              <a:rPr sz="1400" dirty="0">
                <a:solidFill>
                  <a:srgbClr val="1C2833"/>
                </a:solidFill>
                <a:latin typeface="Calibri"/>
              </a:rPr>
              <a:t>Source files: D1_AsIs_Assessment/02_CASE_REPLAY.md. D1_AsIs_Assessment/04_MISSING_CONTROLS.md. D4_App/TEST_EVIDENCE.md. D4_App/DEMO_SCRIPT.md. D4_App/SIDE_EFFECT_COUNTER.md.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dirty="0">
                <a:solidFill>
                  <a:srgbClr val="1C2833"/>
                </a:solidFill>
                <a:latin typeface="Calibri"/>
              </a:rPr>
              <a:t>This appendix slide is the glossary of codes on the cases and the controls. Read a row when someone asks what a code means.</a:t>
            </a:r>
          </a:p>
          <a:p>
            <a:pPr>
              <a:spcAft>
                <a:spcPts val="1000"/>
              </a:spcAft>
            </a:pPr>
            <a:r>
              <a:rPr sz="1400" dirty="0">
                <a:solidFill>
                  <a:srgbClr val="1C2833"/>
                </a:solidFill>
                <a:latin typeface="Calibri"/>
              </a:rPr>
              <a:t>This slide is a glossary. Read a row only when someone asks what a code means. The files store these ids. Where the files never spell the letters, say that.</a:t>
            </a:r>
          </a:p>
          <a:p>
            <a:pPr>
              <a:spcAft>
                <a:spcPts val="1000"/>
              </a:spcAft>
            </a:pPr>
            <a:r>
              <a:rPr sz="1400" dirty="0">
                <a:solidFill>
                  <a:srgbClr val="1C2833"/>
                </a:solidFill>
                <a:latin typeface="Calibri"/>
              </a:rPr>
              <a:t>CH. The inherited change file stores ids CH-88 and CH-89. The files do not spell out the letters C and H. In this project the id is a supplier-master change. CH-88, on 11 August 2026 at 13:44, changed supplier V-311’s bank account from XXXX1122 to XXXX9988. Requester U22. Approver U22. CH-89 changed the email on supplier V-201. Requester U18. Approver U19.</a:t>
            </a:r>
          </a:p>
          <a:p>
            <a:pPr>
              <a:spcAft>
                <a:spcPts val="1000"/>
              </a:spcAft>
            </a:pPr>
            <a:r>
              <a:rPr sz="1400" dirty="0">
                <a:solidFill>
                  <a:srgbClr val="1C2833"/>
                </a:solidFill>
                <a:latin typeface="Calibri"/>
              </a:rPr>
              <a:t>U. U11, U18, U19, and U22 are user ids on the invoice rows and the change rows. The files do not spell out the letter U. U22 is the same person on both sides of CH-88. U11 is the approver stored on INV-1001 and INV-1002.</a:t>
            </a:r>
          </a:p>
          <a:p>
            <a:pPr>
              <a:spcAft>
                <a:spcPts val="1000"/>
              </a:spcAft>
            </a:pPr>
            <a:r>
              <a:rPr sz="1400" dirty="0">
                <a:solidFill>
                  <a:srgbClr val="1C2833"/>
                </a:solidFill>
                <a:latin typeface="Calibri"/>
              </a:rPr>
              <a:t>INV. INV-1001 through INV-1004 are the four invoices in the inherited file. The letters are the invoice-id prefix on those rows. INV-1005 and INV-1006-ALIAS were created in the demo.</a:t>
            </a:r>
          </a:p>
          <a:p>
            <a:pPr>
              <a:spcAft>
                <a:spcPts val="1000"/>
              </a:spcAft>
            </a:pPr>
            <a:r>
              <a:rPr sz="1400" dirty="0">
                <a:solidFill>
                  <a:srgbClr val="1C2833"/>
                </a:solidFill>
                <a:latin typeface="Calibri"/>
              </a:rPr>
              <a:t>V. V-201, V201, and V-311 are supplier ids. V-201 is Alpha Industrial Supply. V201 is Alpha Industries Supply. Those two ids are the alias pair. V-311 is Nova Components, the supplier on CH-88.</a:t>
            </a:r>
          </a:p>
          <a:p>
            <a:pPr>
              <a:spcAft>
                <a:spcPts val="1000"/>
              </a:spcAft>
            </a:pPr>
            <a:r>
              <a:rPr sz="1400" dirty="0">
                <a:solidFill>
                  <a:srgbClr val="1C2833"/>
                </a:solidFill>
                <a:latin typeface="Calibri"/>
              </a:rPr>
              <a:t>PO. The requirements document spells this as purchase order. A purchase order is the company’s buy record. PO-7001 sits on the two 9,800 USD invoices. The purchase-order cell on INV-1003 and INV-1004 is empty.</a:t>
            </a:r>
          </a:p>
          <a:p>
            <a:pPr>
              <a:spcAft>
                <a:spcPts val="1000"/>
              </a:spcAft>
            </a:pPr>
            <a:r>
              <a:rPr sz="1400" dirty="0">
                <a:solidFill>
                  <a:srgbClr val="1C2833"/>
                </a:solidFill>
                <a:latin typeface="Calibri"/>
              </a:rPr>
              <a:t>AP. The requirements document spells this as Accounts Payable. That team processes the invoice and owns control P2P-01, the duplicate-invoice check.</a:t>
            </a:r>
          </a:p>
          <a:p>
            <a:pPr>
              <a:spcAft>
                <a:spcPts val="1000"/>
              </a:spcAft>
            </a:pPr>
            <a:r>
              <a:rPr sz="1400" dirty="0">
                <a:solidFill>
                  <a:srgbClr val="1C2833"/>
                </a:solidFill>
                <a:latin typeface="Calibri"/>
              </a:rPr>
              <a:t>P2P. The product name is Procure-to-Pay Exception and Payment-Control. Procure-to-pay is the path from buying to paying a supplier. The decision is whether one supplier invoice can go on to payment.</a:t>
            </a:r>
          </a:p>
          <a:p>
            <a:pPr>
              <a:spcAft>
                <a:spcPts val="1000"/>
              </a:spcAft>
            </a:pPr>
            <a:r>
              <a:rPr sz="1400" dirty="0">
                <a:solidFill>
                  <a:srgbClr val="1C2833"/>
                </a:solidFill>
                <a:latin typeface="Calibri"/>
              </a:rPr>
              <a:t>P2P-01 through P2P-05 are the five rows in the control matrix. P2P-01 is the duplicate check, owner AP, status Active. P2P-02 is supplier bank-change approval, owner Master Data, status Partial. P2P-03 is segregation of duties, owner Finance Controls, status Manual. P2P-04 is non-PO exception review, owner Procurement, status Inconsistent. P2P-05 is immutable payment decision evidence, owner TBD, status Missing. Immutable means the record cannot be overwritten or deleted for the keep period.</a:t>
            </a:r>
          </a:p>
          <a:p>
            <a:pPr>
              <a:spcAft>
                <a:spcPts val="1000"/>
              </a:spcAft>
            </a:pPr>
            <a:r>
              <a:rPr sz="1400" dirty="0">
                <a:solidFill>
                  <a:srgbClr val="1C2833"/>
                </a:solidFill>
                <a:latin typeface="Calibri"/>
              </a:rPr>
              <a:t>P2P-FR. The requirements document titles section 3 Functional requirements and numbers them P2P-FR-001 onward. FR marks that series. P2P-FR-001 says the product emits APPROVE, REVIEW, or REJECT.</a:t>
            </a:r>
          </a:p>
          <a:p>
            <a:pPr>
              <a:spcAft>
                <a:spcPts val="1000"/>
              </a:spcAft>
            </a:pPr>
            <a:r>
              <a:rPr sz="1400" dirty="0">
                <a:solidFill>
                  <a:srgbClr val="1C2833"/>
                </a:solidFill>
                <a:latin typeface="Calibri"/>
              </a:rPr>
              <a:t>P2P-AC. Section 10 is Acceptance criteria, numbered P2P-AC-001 onward. AC marks that series. P2P-AC-001 is the duplicate case. P2P-AC-003 is CH-88 then INV-1003 and INV-1004.</a:t>
            </a:r>
          </a:p>
          <a:p>
            <a:pPr>
              <a:spcAft>
                <a:spcPts val="1000"/>
              </a:spcAft>
            </a:pPr>
            <a:r>
              <a:rPr sz="1400" dirty="0" err="1">
                <a:solidFill>
                  <a:srgbClr val="1C2833"/>
                </a:solidFill>
                <a:latin typeface="Calibri"/>
              </a:rPr>
              <a:t>SoD</a:t>
            </a:r>
            <a:r>
              <a:rPr sz="1400" dirty="0">
                <a:solidFill>
                  <a:srgbClr val="1C2833"/>
                </a:solidFill>
                <a:latin typeface="Calibri"/>
              </a:rPr>
              <a:t>. The requirements document spells the control as segregation of duties. The reason code on the demo is SOD_SAME_USER_BANK. That code means the requester and the approver of the bank change are the same user. On CH-88 that user is U22.</a:t>
            </a:r>
          </a:p>
          <a:p>
            <a:pPr>
              <a:spcAft>
                <a:spcPts val="1000"/>
              </a:spcAft>
            </a:pPr>
            <a:r>
              <a:rPr sz="1400" dirty="0">
                <a:solidFill>
                  <a:srgbClr val="1C2833"/>
                </a:solidFill>
                <a:latin typeface="Calibri"/>
              </a:rPr>
              <a:t>Source files: D3_PRD/PRD.md sections 2 and 3. D1_AsIs_Assessment/02_CASE_REPLAY.md. D1_AsIs_Assessment/04_MISSING_CONTROLS.md.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1000"/>
              </a:spcAft>
            </a:pPr>
            <a:r>
              <a:rPr sz="1400">
                <a:solidFill>
                  <a:srgbClr val="1C2833"/>
                </a:solidFill>
                <a:latin typeface="Calibri"/>
              </a:rPr>
              <a:t>This appendix slide is the glossary of codes on the documents and the evidence. Keep it up during questions.</a:t>
            </a:r>
          </a:p>
          <a:p>
            <a:pPr>
              <a:spcAft>
                <a:spcPts val="1000"/>
              </a:spcAft>
            </a:pPr>
            <a:r>
              <a:rPr sz="1400">
                <a:solidFill>
                  <a:srgbClr val="1C2833"/>
                </a:solidFill>
                <a:latin typeface="Calibri"/>
              </a:rPr>
              <a:t>Keep this slide up during questions. Each row is a code the files already use.</a:t>
            </a:r>
          </a:p>
          <a:p>
            <a:pPr>
              <a:spcAft>
                <a:spcPts val="1000"/>
              </a:spcAft>
            </a:pPr>
            <a:r>
              <a:rPr sz="1400">
                <a:solidFill>
                  <a:srgbClr val="1C2833"/>
                </a:solidFill>
                <a:latin typeface="Calibri"/>
              </a:rPr>
              <a:t>D1 is the As-Is reading of the inherited folder. D2 is Repo 2.0, the design, with one file for each of the ten runbook steps. D3 is the product requirements document. D4 is the working app and the click notes from 22 September 2026.</a:t>
            </a:r>
          </a:p>
          <a:p>
            <a:pPr>
              <a:spcAft>
                <a:spcPts val="1000"/>
              </a:spcAft>
            </a:pPr>
            <a:r>
              <a:rPr sz="1400">
                <a:solidFill>
                  <a:srgbClr val="1C2833"/>
                </a:solidFill>
                <a:latin typeface="Calibri"/>
              </a:rPr>
              <a:t>D3a is the requirements version the app shows in the footer. D3b is the later step that must name the review owner, the payer, the model owner, the data owner, and the P2P-05 owner. Those names are Missing or TBD until that note exists.</a:t>
            </a:r>
          </a:p>
          <a:p>
            <a:pPr>
              <a:spcAft>
                <a:spcPts val="1000"/>
              </a:spcAft>
            </a:pPr>
            <a:r>
              <a:rPr sz="1400">
                <a:solidFill>
                  <a:srgbClr val="1C2833"/>
                </a:solidFill>
                <a:latin typeface="Calibri"/>
              </a:rPr>
              <a:t>PRD is the product requirements document. Project Intent uses those words. The file is D3_PRD/PRD.md.</a:t>
            </a:r>
          </a:p>
          <a:p>
            <a:pPr>
              <a:spcAft>
                <a:spcPts val="1000"/>
              </a:spcAft>
            </a:pPr>
            <a:r>
              <a:rPr sz="1400">
                <a:solidFill>
                  <a:srgbClr val="1C2833"/>
                </a:solidFill>
                <a:latin typeface="Calibri"/>
              </a:rPr>
              <a:t>ADR. The requirements document calls this an Architecture Decision Record. It is a short decision note. It records the number, the owner, and why. Until that note exists, a new numeric limit stays THRESHOLD_UNSET. THRESHOLD_UNSET means the number is not chosen yet.</a:t>
            </a:r>
          </a:p>
          <a:p>
            <a:pPr>
              <a:spcAft>
                <a:spcPts val="1000"/>
              </a:spcAft>
            </a:pPr>
            <a:r>
              <a:rPr sz="1400">
                <a:solidFill>
                  <a:srgbClr val="1C2833"/>
                </a:solidFill>
                <a:latin typeface="Calibri"/>
              </a:rPr>
              <a:t>TBD. The control matrix stores owner TBD on P2P-05. This project keeps that cell. It means no person is named yet. The files do not spell out the letters T, B, and D.</a:t>
            </a:r>
          </a:p>
          <a:p>
            <a:pPr>
              <a:spcAft>
                <a:spcPts val="1000"/>
              </a:spcAft>
            </a:pPr>
            <a:r>
              <a:rPr sz="1400">
                <a:solidFill>
                  <a:srgbClr val="1C2833"/>
                </a:solidFill>
                <a:latin typeface="Calibri"/>
              </a:rPr>
              <a:t>PROCESS. That is the result word in the inherited rule file and in the log for INV-1003. The trainer names for later work are APPROVE, REVIEW, and REJECT. APPROVE means the invoice may go toward payment after a named person pays. REVIEW means a named person must decide. REJECT means the invoice stays unpaid.</a:t>
            </a:r>
          </a:p>
          <a:p>
            <a:pPr>
              <a:spcAft>
                <a:spcPts val="1000"/>
              </a:spcAft>
            </a:pPr>
            <a:r>
              <a:rPr sz="1400">
                <a:solidFill>
                  <a:srgbClr val="1C2833"/>
                </a:solidFill>
                <a:latin typeface="Calibri"/>
              </a:rPr>
              <a:t>WORM. The design files spell this as write once, read many. After the row is locked, delete and overwrite are refused for the keep period. The keep period in days is still unset. In the demo the list lives in the browser. It is a classroom copy of that store.</a:t>
            </a:r>
          </a:p>
          <a:p>
            <a:pPr>
              <a:spcAft>
                <a:spcPts val="1000"/>
              </a:spcAft>
            </a:pPr>
            <a:r>
              <a:rPr sz="1400">
                <a:solidFill>
                  <a:srgbClr val="1C2833"/>
                </a:solidFill>
                <a:latin typeface="Calibri"/>
              </a:rPr>
              <a:t>PR-AUC. The requirements document spells this as the area under the precision-recall curve. It pays extra attention to the rare bad class. The evaluation file does not store that number. Status: Missing. Precision is the share of flagged invoices later confirmed bad. Recall is the share of bad invoices the model flagged.</a:t>
            </a:r>
          </a:p>
          <a:p>
            <a:pPr>
              <a:spcAft>
                <a:spcPts val="1000"/>
              </a:spcAft>
            </a:pPr>
            <a:r>
              <a:rPr sz="1400">
                <a:solidFill>
                  <a:srgbClr val="1C2833"/>
                </a:solidFill>
                <a:latin typeface="Calibri"/>
              </a:rPr>
              <a:t>USD. Every inherited invoice row stores currency USD.</a:t>
            </a:r>
          </a:p>
          <a:p>
            <a:pPr>
              <a:spcAft>
                <a:spcPts val="1000"/>
              </a:spcAft>
            </a:pPr>
            <a:r>
              <a:rPr sz="1400">
                <a:solidFill>
                  <a:srgbClr val="1C2833"/>
                </a:solidFill>
                <a:latin typeface="Calibri"/>
              </a:rPr>
              <a:t>ERP. Use case 5 is named Enterprise ERP / Shared Services. The packet does not spell out the letters E, R, and P. In this case it is the company system that stores the buy records and the payments.</a:t>
            </a:r>
          </a:p>
          <a:p>
            <a:pPr>
              <a:spcAft>
                <a:spcPts val="1000"/>
              </a:spcAft>
            </a:pPr>
            <a:r>
              <a:rPr sz="1400">
                <a:solidFill>
                  <a:srgbClr val="1C2833"/>
                </a:solidFill>
                <a:latin typeface="Calibri"/>
              </a:rPr>
              <a:t>C-01, C-02, and C-03 are rows in the conflict register. C-01 is the approval matrix at 5,000 against the under-5,000 PROCESS rule. C-02 is invoice splitting named in the business note, with no rule that adds INV-1003 and INV-1004. C-03 is CH-88, same user U22, with no conflict rule. C-04 is also in the register. It compares the copied accuracy cells with the false-positive rates 0.18 and 0.24.</a:t>
            </a:r>
          </a:p>
          <a:p>
            <a:pPr>
              <a:spcAft>
                <a:spcPts val="1000"/>
              </a:spcAft>
            </a:pPr>
            <a:r>
              <a:rPr sz="1400">
                <a:solidFill>
                  <a:srgbClr val="1C2833"/>
                </a:solidFill>
                <a:latin typeface="Calibri"/>
              </a:rPr>
              <a:t>Other codes you may be asked about.</a:t>
            </a:r>
          </a:p>
          <a:p>
            <a:pPr>
              <a:spcAft>
                <a:spcPts val="1000"/>
              </a:spcAft>
            </a:pPr>
            <a:r>
              <a:rPr sz="1400">
                <a:solidFill>
                  <a:srgbClr val="1C2833"/>
                </a:solidFill>
                <a:latin typeface="Calibri"/>
              </a:rPr>
              <a:t>P2P-SM. Section 11 numbers the success metrics P2P-SM-001 onward. P2P-SM-001 is precision. P2P-SM-003 is the false-positive rate. P2P-SM-005 is PR-AUC, and that value is Missing.</a:t>
            </a:r>
          </a:p>
          <a:p>
            <a:pPr>
              <a:spcAft>
                <a:spcPts val="1000"/>
              </a:spcAft>
            </a:pPr>
            <a:r>
              <a:rPr sz="1400">
                <a:solidFill>
                  <a:srgbClr val="1C2833"/>
                </a:solidFill>
                <a:latin typeface="Calibri"/>
              </a:rPr>
              <a:t>ESC. An escalation event. ESC_CONTEST is the event written when someone opens a contest. ESC_P2P05 fires if payment status would change with no audit row.</a:t>
            </a:r>
          </a:p>
          <a:p>
            <a:pPr>
              <a:spcAft>
                <a:spcPts val="1000"/>
              </a:spcAft>
            </a:pPr>
            <a:r>
              <a:rPr sz="1400">
                <a:solidFill>
                  <a:srgbClr val="1C2833"/>
                </a:solidFill>
                <a:latin typeface="Calibri"/>
              </a:rPr>
              <a:t>RCTE. Risk, Control, Test, and Evidence. D1 file 06_RCTE_ROWS.md uses that set. Repo 2.0 keeps the same four words visible on each recommendation.</a:t>
            </a:r>
          </a:p>
          <a:p>
            <a:pPr>
              <a:spcAft>
                <a:spcPts val="1000"/>
              </a:spcAft>
            </a:pPr>
            <a:r>
              <a:rPr sz="1400">
                <a:solidFill>
                  <a:srgbClr val="1C2833"/>
                </a:solidFill>
                <a:latin typeface="Calibri"/>
              </a:rPr>
              <a:t>SLA. The locked facts call this the promised time to handle the invoice. A good invoice that sits in REVIEW can miss that time.</a:t>
            </a:r>
          </a:p>
          <a:p>
            <a:pPr>
              <a:spcAft>
                <a:spcPts val="1000"/>
              </a:spcAft>
            </a:pPr>
            <a:r>
              <a:rPr sz="1400">
                <a:solidFill>
                  <a:srgbClr val="1C2833"/>
                </a:solidFill>
                <a:latin typeface="Calibri"/>
              </a:rPr>
              <a:t>OCR. Software that reads text from a document image. The demo showed extractor ocr-v2.1 on INV-1002.</a:t>
            </a:r>
          </a:p>
          <a:p>
            <a:pPr>
              <a:spcAft>
                <a:spcPts val="1000"/>
              </a:spcAft>
            </a:pPr>
            <a:r>
              <a:rPr sz="1400">
                <a:solidFill>
                  <a:srgbClr val="1C2833"/>
                </a:solidFill>
                <a:latin typeface="Calibri"/>
              </a:rPr>
              <a:t>PEP. The requirements document spells this as Politically Exposed Person. A person in a public role who needs extra screening. Whether this case must check that is Unknown.</a:t>
            </a:r>
          </a:p>
          <a:p>
            <a:pPr>
              <a:spcAft>
                <a:spcPts val="1000"/>
              </a:spcAft>
            </a:pPr>
            <a:r>
              <a:rPr sz="1400">
                <a:solidFill>
                  <a:srgbClr val="1C2833"/>
                </a:solidFill>
                <a:latin typeface="Calibri"/>
              </a:rPr>
              <a:t>Honesty labels on numbers. REAL means this session measured it. PRECOMPUTED means the number was copied from the inherited files. SIMULATED means a stand-in for a service this packet does not call. EDUCATIONAL means a classroom walk-through on the four invoices.</a:t>
            </a:r>
          </a:p>
          <a:p>
            <a:pPr>
              <a:spcAft>
                <a:spcPts val="1000"/>
              </a:spcAft>
            </a:pPr>
            <a:r>
              <a:rPr sz="1400">
                <a:solidFill>
                  <a:srgbClr val="1C2833"/>
                </a:solidFill>
                <a:latin typeface="Calibri"/>
              </a:rPr>
              <a:t>Source files: D3_PRD/PRD.md. D1_AsIs_Assessment/00_LOCKED_FACTS.md. D1_AsIs_Assessment/03_CONFLICT_REGISTER.md. Project Intent.md.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WHAT THE CASE IS</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One supplier invoice may go on to payment</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1  /  11</a:t>
            </a:r>
          </a:p>
        </p:txBody>
      </p:sp>
      <p:sp>
        <p:nvSpPr>
          <p:cNvPr id="8" name="TextBox 7"/>
          <p:cNvSpPr txBox="1"/>
          <p:nvPr/>
        </p:nvSpPr>
        <p:spPr>
          <a:xfrm>
            <a:off x="502920" y="1298448"/>
            <a:ext cx="11155680" cy="5029200"/>
          </a:xfrm>
          <a:prstGeom prst="rect">
            <a:avLst/>
          </a:prstGeom>
          <a:noFill/>
        </p:spPr>
        <p:txBody>
          <a:bodyPr wrap="square"/>
          <a:lstStyle/>
          <a:p>
            <a:pPr marL="256032" indent="-201168" algn="l">
              <a:spcAft>
                <a:spcPts val="1000"/>
              </a:spcAft>
              <a:buChar char="•"/>
            </a:pPr>
            <a:r>
              <a:rPr sz="1800" b="1">
                <a:solidFill>
                  <a:srgbClr val="143242"/>
                </a:solidFill>
                <a:latin typeface="Calibri"/>
              </a:rPr>
              <a:t>Use case 5. </a:t>
            </a:r>
            <a:r>
              <a:rPr sz="1800" b="0">
                <a:solidFill>
                  <a:srgbClr val="1C2833"/>
                </a:solidFill>
                <a:latin typeface="Calibri"/>
              </a:rPr>
              <a:t>Enterprise ERP / Shared Services — Procure-to-Pay Exception and Payment Control.</a:t>
            </a:r>
          </a:p>
          <a:p>
            <a:pPr marL="256032" indent="-201168" algn="l">
              <a:spcAft>
                <a:spcPts val="1000"/>
              </a:spcAft>
              <a:buChar char="•"/>
            </a:pPr>
            <a:r>
              <a:rPr sz="1800" b="1">
                <a:solidFill>
                  <a:srgbClr val="143242"/>
                </a:solidFill>
                <a:latin typeface="Calibri"/>
              </a:rPr>
              <a:t>The decision. </a:t>
            </a:r>
            <a:r>
              <a:rPr sz="1800" b="0">
                <a:solidFill>
                  <a:srgbClr val="1C2833"/>
                </a:solidFill>
                <a:latin typeface="Calibri"/>
              </a:rPr>
              <a:t>Shared-services finance decides whether one supplier invoice can go on to payment.</a:t>
            </a:r>
          </a:p>
          <a:p>
            <a:pPr marL="256032" indent="-201168" algn="l">
              <a:spcAft>
                <a:spcPts val="1000"/>
              </a:spcAft>
              <a:buChar char="•"/>
            </a:pPr>
            <a:r>
              <a:rPr sz="1800" b="1">
                <a:solidFill>
                  <a:srgbClr val="143242"/>
                </a:solidFill>
                <a:latin typeface="Calibri"/>
              </a:rPr>
              <a:t>Payment already happened twice. </a:t>
            </a:r>
            <a:r>
              <a:rPr sz="1800" b="0">
                <a:solidFill>
                  <a:srgbClr val="1C2833"/>
                </a:solidFill>
                <a:latin typeface="Calibri"/>
              </a:rPr>
              <a:t>INV-1001 and INV-1002 are paid at 9,800 USD each. Supplier V-201. Purchase order PO-7001.</a:t>
            </a:r>
          </a:p>
          <a:p>
            <a:pPr marL="256032" indent="-201168" algn="l">
              <a:spcAft>
                <a:spcPts val="1000"/>
              </a:spcAft>
              <a:buChar char="•"/>
            </a:pPr>
            <a:r>
              <a:rPr sz="1800" b="1">
                <a:solidFill>
                  <a:srgbClr val="143242"/>
                </a:solidFill>
                <a:latin typeface="Calibri"/>
              </a:rPr>
              <a:t>The other packet cases. </a:t>
            </a:r>
            <a:r>
              <a:rPr sz="1800" b="0">
                <a:solidFill>
                  <a:srgbClr val="1C2833"/>
                </a:solidFill>
                <a:latin typeface="Calibri"/>
              </a:rPr>
              <a:t>Bank change CH-88, then INV-1003 and INV-1004 at 4,950 USD each.</a:t>
            </a:r>
          </a:p>
          <a:p>
            <a:pPr marL="256032" indent="-201168" algn="l">
              <a:spcAft>
                <a:spcPts val="1000"/>
              </a:spcAft>
              <a:buChar char="•"/>
            </a:pPr>
            <a:r>
              <a:rPr sz="1800" b="1">
                <a:solidFill>
                  <a:srgbClr val="143242"/>
                </a:solidFill>
                <a:latin typeface="Calibri"/>
              </a:rPr>
              <a:t>What we hand back. </a:t>
            </a:r>
            <a:r>
              <a:rPr sz="1800" b="0">
                <a:solidFill>
                  <a:srgbClr val="1C2833"/>
                </a:solidFill>
                <a:latin typeface="Calibri"/>
              </a:rPr>
              <a:t>The As-Is reading, the Repo 2.0 design, the product requirements document, and the working app.</a:t>
            </a:r>
          </a:p>
          <a:p>
            <a:pPr marL="256032" indent="-201168" algn="l">
              <a:spcAft>
                <a:spcPts val="1000"/>
              </a:spcAft>
              <a:buChar char="•"/>
            </a:pPr>
            <a:r>
              <a:rPr sz="1800" b="1">
                <a:solidFill>
                  <a:srgbClr val="143242"/>
                </a:solidFill>
                <a:latin typeface="Calibri"/>
              </a:rPr>
              <a:t>The runbook job. </a:t>
            </a:r>
            <a:r>
              <a:rPr sz="1800" b="0">
                <a:solidFill>
                  <a:srgbClr val="1C2833"/>
                </a:solidFill>
                <a:latin typeface="Calibri"/>
              </a:rPr>
              <a:t>Deal with manipulation, approval bypass, and suspicious patterns. Keep segregation of duties, stored evidence, and a person in the path.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D1  ·  AS-IS FINDINGS</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Three conflicts. Control P2P-05 is Missing.</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2  /  11</a:t>
            </a:r>
          </a:p>
        </p:txBody>
      </p:sp>
      <p:sp>
        <p:nvSpPr>
          <p:cNvPr id="8" name="TextBox 7"/>
          <p:cNvSpPr txBox="1"/>
          <p:nvPr/>
        </p:nvSpPr>
        <p:spPr>
          <a:xfrm>
            <a:off x="502920" y="1298448"/>
            <a:ext cx="11155680" cy="5029200"/>
          </a:xfrm>
          <a:prstGeom prst="rect">
            <a:avLst/>
          </a:prstGeom>
          <a:noFill/>
        </p:spPr>
        <p:txBody>
          <a:bodyPr wrap="square"/>
          <a:lstStyle/>
          <a:p>
            <a:pPr marL="256032" indent="-201168" algn="l">
              <a:spcAft>
                <a:spcPts val="900"/>
              </a:spcAft>
              <a:buChar char="•"/>
            </a:pPr>
            <a:r>
              <a:rPr sz="1600" b="1" dirty="0">
                <a:solidFill>
                  <a:srgbClr val="143242"/>
                </a:solidFill>
                <a:latin typeface="Calibri"/>
              </a:rPr>
              <a:t>Conflict C-01. </a:t>
            </a:r>
            <a:r>
              <a:rPr sz="1600" b="0" dirty="0">
                <a:solidFill>
                  <a:srgbClr val="1C2833"/>
                </a:solidFill>
                <a:latin typeface="Calibri"/>
              </a:rPr>
              <a:t>The approval matrix names role AP_SUPERVISOR at 5,000. The rule file sends an empty purchase order under 5,000 forward. INV-1003 at 4,950 USD took that path. The result word was PROCESS.</a:t>
            </a:r>
          </a:p>
          <a:p>
            <a:pPr marL="256032" indent="-201168" algn="l">
              <a:spcAft>
                <a:spcPts val="900"/>
              </a:spcAft>
              <a:buChar char="•"/>
            </a:pPr>
            <a:r>
              <a:rPr sz="1600" b="1" dirty="0">
                <a:solidFill>
                  <a:srgbClr val="143242"/>
                </a:solidFill>
                <a:latin typeface="Calibri"/>
              </a:rPr>
              <a:t>Conflict C-02. </a:t>
            </a:r>
            <a:r>
              <a:rPr sz="1600" b="0" dirty="0">
                <a:solidFill>
                  <a:srgbClr val="1C2833"/>
                </a:solidFill>
                <a:latin typeface="Calibri"/>
              </a:rPr>
              <a:t>The business note names invoice splitting. The rule file has no rule that adds invoices together. INV-1003 and INV-1004 are 4,950 plus 4,950, which is 9,900. Both took PROCESS.</a:t>
            </a:r>
          </a:p>
          <a:p>
            <a:pPr marL="256032" indent="-201168" algn="l">
              <a:spcAft>
                <a:spcPts val="900"/>
              </a:spcAft>
              <a:buChar char="•"/>
            </a:pPr>
            <a:r>
              <a:rPr sz="1600" b="1" dirty="0">
                <a:solidFill>
                  <a:srgbClr val="143242"/>
                </a:solidFill>
                <a:latin typeface="Calibri"/>
              </a:rPr>
              <a:t>Conflict C-03. </a:t>
            </a:r>
            <a:r>
              <a:rPr sz="1600" b="0" dirty="0">
                <a:solidFill>
                  <a:srgbClr val="1C2833"/>
                </a:solidFill>
                <a:latin typeface="Calibri"/>
              </a:rPr>
              <a:t>The risk note names a requester and approver conflict. CH-88 has requester U22 and approver U22. The audit line stores SUCCESS. The rule file has no conflict rule.</a:t>
            </a:r>
          </a:p>
          <a:p>
            <a:pPr marL="256032" indent="-201168" algn="l">
              <a:spcAft>
                <a:spcPts val="900"/>
              </a:spcAft>
              <a:buChar char="•"/>
            </a:pPr>
            <a:r>
              <a:rPr sz="1600" b="1" dirty="0">
                <a:solidFill>
                  <a:srgbClr val="143242"/>
                </a:solidFill>
                <a:latin typeface="Calibri"/>
              </a:rPr>
              <a:t>Control P2P-05. </a:t>
            </a:r>
            <a:r>
              <a:rPr sz="1600" b="0" dirty="0">
                <a:solidFill>
                  <a:srgbClr val="1C2833"/>
                </a:solidFill>
                <a:latin typeface="Calibri"/>
              </a:rPr>
              <a:t>Immutable payment decision evidence. Status Missing. Owner TBD. The two audit lines do not make that control exist.</a:t>
            </a:r>
          </a:p>
          <a:p>
            <a:pPr marL="256032" indent="-201168" algn="l">
              <a:spcAft>
                <a:spcPts val="900"/>
              </a:spcAft>
              <a:buChar char="•"/>
            </a:pPr>
            <a:r>
              <a:rPr sz="1600" b="1" dirty="0">
                <a:solidFill>
                  <a:srgbClr val="143242"/>
                </a:solidFill>
                <a:latin typeface="Calibri"/>
              </a:rPr>
              <a:t>What D1 did. </a:t>
            </a:r>
            <a:r>
              <a:rPr sz="1600" b="0" dirty="0">
                <a:solidFill>
                  <a:srgbClr val="1C2833"/>
                </a:solidFill>
                <a:latin typeface="Calibri"/>
              </a:rPr>
              <a:t>D1 wrote both sides of each conflict. D1 left Repo 1.0 unchanged.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D2  ·  REPO 2.0</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One design file for each of the ten runbook steps</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3  /  11</a:t>
            </a:r>
          </a:p>
        </p:txBody>
      </p:sp>
      <p:sp>
        <p:nvSpPr>
          <p:cNvPr id="8" name="TextBox 7"/>
          <p:cNvSpPr txBox="1"/>
          <p:nvPr/>
        </p:nvSpPr>
        <p:spPr>
          <a:xfrm>
            <a:off x="502920" y="1280160"/>
            <a:ext cx="5532120" cy="5074920"/>
          </a:xfrm>
          <a:prstGeom prst="rect">
            <a:avLst/>
          </a:prstGeom>
          <a:noFill/>
        </p:spPr>
        <p:txBody>
          <a:bodyPr wrap="square"/>
          <a:lstStyle/>
          <a:p>
            <a:pPr marL="256032" indent="-201168" algn="l">
              <a:spcAft>
                <a:spcPts val="800"/>
              </a:spcAft>
              <a:buChar char="•"/>
            </a:pPr>
            <a:r>
              <a:rPr sz="1400" b="1">
                <a:solidFill>
                  <a:srgbClr val="143242"/>
                </a:solidFill>
                <a:latin typeface="Calibri"/>
              </a:rPr>
              <a:t>Ten steps. </a:t>
            </a:r>
            <a:r>
              <a:rPr sz="1400" b="0">
                <a:solidFill>
                  <a:srgbClr val="1C2833"/>
                </a:solidFill>
                <a:latin typeface="Calibri"/>
              </a:rPr>
              <a:t>Repo 2.0 has one file for each step. Repo 1.0 stays as evidence.</a:t>
            </a:r>
          </a:p>
          <a:p>
            <a:pPr marL="256032" indent="-201168" algn="l">
              <a:spcAft>
                <a:spcPts val="800"/>
              </a:spcAft>
              <a:buChar char="•"/>
            </a:pPr>
            <a:r>
              <a:rPr sz="1400" b="1">
                <a:solidFill>
                  <a:srgbClr val="143242"/>
                </a:solidFill>
                <a:latin typeface="Calibri"/>
              </a:rPr>
              <a:t>Step 1. </a:t>
            </a:r>
            <a:r>
              <a:rPr sz="1400" b="0">
                <a:solidFill>
                  <a:srgbClr val="1C2833"/>
                </a:solidFill>
                <a:latin typeface="Calibri"/>
              </a:rPr>
              <a:t>Outcomes are APPROVE, REVIEW, and REJECT. The model ranks. A named person pays.</a:t>
            </a:r>
          </a:p>
          <a:p>
            <a:pPr marL="256032" indent="-201168" algn="l">
              <a:spcAft>
                <a:spcPts val="800"/>
              </a:spcAft>
              <a:buChar char="•"/>
            </a:pPr>
            <a:r>
              <a:rPr sz="1400" b="1">
                <a:solidFill>
                  <a:srgbClr val="143242"/>
                </a:solidFill>
                <a:latin typeface="Calibri"/>
              </a:rPr>
              <a:t>Step 2. </a:t>
            </a:r>
            <a:r>
              <a:rPr sz="1400" b="0">
                <a:solidFill>
                  <a:srgbClr val="1C2833"/>
                </a:solidFill>
                <a:latin typeface="Calibri"/>
              </a:rPr>
              <a:t>Keeps the 9,800 USD pair, the alias V-201 and V201, and CH-88 before INV-1003.</a:t>
            </a:r>
          </a:p>
          <a:p>
            <a:pPr marL="256032" indent="-201168" algn="l">
              <a:spcAft>
                <a:spcPts val="800"/>
              </a:spcAft>
              <a:buChar char="•"/>
            </a:pPr>
            <a:r>
              <a:rPr sz="1400" b="1">
                <a:solidFill>
                  <a:srgbClr val="143242"/>
                </a:solidFill>
                <a:latin typeface="Calibri"/>
              </a:rPr>
              <a:t>Step 3. </a:t>
            </a:r>
            <a:r>
              <a:rPr sz="1400" b="0">
                <a:solidFill>
                  <a:srgbClr val="1C2833"/>
                </a:solidFill>
                <a:latin typeface="Calibri"/>
              </a:rPr>
              <a:t>Compares models on precision, recall, and false-positive rate. The copied accuracy cells stay in the source file.</a:t>
            </a:r>
          </a:p>
          <a:p>
            <a:pPr marL="256032" indent="-201168" algn="l">
              <a:spcAft>
                <a:spcPts val="800"/>
              </a:spcAft>
              <a:buChar char="•"/>
            </a:pPr>
            <a:r>
              <a:rPr sz="1400" b="1">
                <a:solidFill>
                  <a:srgbClr val="143242"/>
                </a:solidFill>
                <a:latin typeface="Calibri"/>
              </a:rPr>
              <a:t>Step 4. </a:t>
            </a:r>
            <a:r>
              <a:rPr sz="1400" b="0">
                <a:solidFill>
                  <a:srgbClr val="1C2833"/>
                </a:solidFill>
                <a:latin typeface="Calibri"/>
              </a:rPr>
              <a:t>Joins alias ids. An uncertain document read goes to a person.</a:t>
            </a:r>
          </a:p>
          <a:p>
            <a:pPr marL="256032" indent="-201168" algn="l">
              <a:spcAft>
                <a:spcPts val="800"/>
              </a:spcAft>
              <a:buChar char="•"/>
            </a:pPr>
            <a:r>
              <a:rPr sz="1400" b="1">
                <a:solidFill>
                  <a:srgbClr val="143242"/>
                </a:solidFill>
                <a:latin typeface="Calibri"/>
              </a:rPr>
              <a:t>Step 5. </a:t>
            </a:r>
            <a:r>
              <a:rPr sz="1400" b="0">
                <a:solidFill>
                  <a:srgbClr val="1C2833"/>
                </a:solidFill>
                <a:latin typeface="Calibri"/>
              </a:rPr>
              <a:t>Links the bank change to the later invoice. Pay and Notify each use a key.</a:t>
            </a:r>
          </a:p>
        </p:txBody>
      </p:sp>
      <p:sp>
        <p:nvSpPr>
          <p:cNvPr id="9" name="TextBox 8"/>
          <p:cNvSpPr txBox="1"/>
          <p:nvPr/>
        </p:nvSpPr>
        <p:spPr>
          <a:xfrm>
            <a:off x="6263640" y="1280160"/>
            <a:ext cx="5440680" cy="5074920"/>
          </a:xfrm>
          <a:prstGeom prst="rect">
            <a:avLst/>
          </a:prstGeom>
          <a:noFill/>
        </p:spPr>
        <p:txBody>
          <a:bodyPr wrap="square"/>
          <a:lstStyle/>
          <a:p>
            <a:pPr marL="256032" indent="-201168" algn="l">
              <a:spcAft>
                <a:spcPts val="800"/>
              </a:spcAft>
              <a:buChar char="•"/>
            </a:pPr>
            <a:r>
              <a:rPr sz="1400" b="1">
                <a:solidFill>
                  <a:srgbClr val="143242"/>
                </a:solidFill>
                <a:latin typeface="Calibri"/>
              </a:rPr>
              <a:t>Step 6. </a:t>
            </a:r>
            <a:r>
              <a:rPr sz="1400" b="0">
                <a:solidFill>
                  <a:srgbClr val="1C2833"/>
                </a:solidFill>
                <a:latin typeface="Calibri"/>
              </a:rPr>
              <a:t>Retires PROCESS. Empty purchase order, same-user bank change, and the pair INV-1003 plus INV-1004 go to REVIEW.</a:t>
            </a:r>
          </a:p>
          <a:p>
            <a:pPr marL="256032" indent="-201168" algn="l">
              <a:spcAft>
                <a:spcPts val="800"/>
              </a:spcAft>
              <a:buChar char="•"/>
            </a:pPr>
            <a:r>
              <a:rPr sz="1400" b="1">
                <a:solidFill>
                  <a:srgbClr val="143242"/>
                </a:solidFill>
                <a:latin typeface="Calibri"/>
              </a:rPr>
              <a:t>Step 7. </a:t>
            </a:r>
            <a:r>
              <a:rPr sz="1400" b="0">
                <a:solidFill>
                  <a:srgbClr val="1C2833"/>
                </a:solidFill>
                <a:latin typeface="Calibri"/>
              </a:rPr>
              <a:t>Agree, Disagree, and Override sit on the same screen. A contest path is written.</a:t>
            </a:r>
          </a:p>
          <a:p>
            <a:pPr marL="256032" indent="-201168" algn="l">
              <a:spcAft>
                <a:spcPts val="800"/>
              </a:spcAft>
              <a:buChar char="•"/>
            </a:pPr>
            <a:r>
              <a:rPr sz="1400" b="1">
                <a:solidFill>
                  <a:srgbClr val="143242"/>
                </a:solidFill>
                <a:latin typeface="Calibri"/>
              </a:rPr>
              <a:t>Step 8. </a:t>
            </a:r>
            <a:r>
              <a:rPr sz="1400" b="0">
                <a:solidFill>
                  <a:srgbClr val="1C2833"/>
                </a:solidFill>
                <a:latin typeface="Calibri"/>
              </a:rPr>
              <a:t>The app writes the audit row before payment status changes. The P2P-05 owner stays TBD.</a:t>
            </a:r>
          </a:p>
          <a:p>
            <a:pPr marL="256032" indent="-201168" algn="l">
              <a:spcAft>
                <a:spcPts val="800"/>
              </a:spcAft>
              <a:buChar char="•"/>
            </a:pPr>
            <a:r>
              <a:rPr sz="1400" b="1">
                <a:solidFill>
                  <a:srgbClr val="143242"/>
                </a:solidFill>
                <a:latin typeface="Calibri"/>
              </a:rPr>
              <a:t>Step 9. </a:t>
            </a:r>
            <a:r>
              <a:rPr sz="1400" b="0">
                <a:solidFill>
                  <a:srgbClr val="1C2833"/>
                </a:solidFill>
                <a:latin typeface="Calibri"/>
              </a:rPr>
              <a:t>Operations watches false-positive rate, override rate, unscored rate, and audit completeness.</a:t>
            </a:r>
          </a:p>
          <a:p>
            <a:pPr marL="256032" indent="-201168" algn="l">
              <a:spcAft>
                <a:spcPts val="800"/>
              </a:spcAft>
              <a:buChar char="•"/>
            </a:pPr>
            <a:r>
              <a:rPr sz="1400" b="1">
                <a:solidFill>
                  <a:srgbClr val="143242"/>
                </a:solidFill>
                <a:latin typeface="Calibri"/>
              </a:rPr>
              <a:t>Step 10. </a:t>
            </a:r>
            <a:r>
              <a:rPr sz="1400" b="0">
                <a:solidFill>
                  <a:srgbClr val="1C2833"/>
                </a:solidFill>
                <a:latin typeface="Calibri"/>
              </a:rPr>
              <a:t>The two old passing tests stay visible until new tests replace them. New amount lines stay unset until a named owner writes a decision note.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D3  ·  REQUIREMENTS</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Five acceptance cases the app must pass</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4  /  11</a:t>
            </a:r>
          </a:p>
        </p:txBody>
      </p:sp>
      <p:sp>
        <p:nvSpPr>
          <p:cNvPr id="8" name="TextBox 7"/>
          <p:cNvSpPr txBox="1"/>
          <p:nvPr/>
        </p:nvSpPr>
        <p:spPr>
          <a:xfrm>
            <a:off x="502920" y="1280160"/>
            <a:ext cx="11155680" cy="5074920"/>
          </a:xfrm>
          <a:prstGeom prst="rect">
            <a:avLst/>
          </a:prstGeom>
          <a:noFill/>
        </p:spPr>
        <p:txBody>
          <a:bodyPr wrap="square"/>
          <a:lstStyle/>
          <a:p>
            <a:pPr marL="256032" indent="-201168" algn="l">
              <a:spcAft>
                <a:spcPts val="600"/>
              </a:spcAft>
              <a:buChar char="•"/>
            </a:pPr>
            <a:r>
              <a:rPr sz="1500" b="1">
                <a:solidFill>
                  <a:srgbClr val="143242"/>
                </a:solidFill>
                <a:latin typeface="Calibri"/>
              </a:rPr>
              <a:t>Document version. </a:t>
            </a:r>
            <a:r>
              <a:rPr sz="1500" b="0">
                <a:solidFill>
                  <a:srgbClr val="1C2833"/>
                </a:solidFill>
                <a:latin typeface="Calibri"/>
              </a:rPr>
              <a:t>D3a. The app implements this document.</a:t>
            </a:r>
          </a:p>
          <a:p>
            <a:pPr marL="256032" indent="-201168" algn="l">
              <a:spcAft>
                <a:spcPts val="600"/>
              </a:spcAft>
              <a:buChar char="•"/>
            </a:pPr>
            <a:r>
              <a:rPr sz="1500" b="1">
                <a:solidFill>
                  <a:srgbClr val="143242"/>
                </a:solidFill>
                <a:latin typeface="Calibri"/>
              </a:rPr>
              <a:t>Outcomes. </a:t>
            </a:r>
            <a:r>
              <a:rPr sz="1500" b="0">
                <a:solidFill>
                  <a:srgbClr val="1C2833"/>
                </a:solidFill>
                <a:latin typeface="Calibri"/>
              </a:rPr>
              <a:t>APPROVE, REVIEW, and REJECT. A named person owns REVIEW. A named person releases payment.</a:t>
            </a:r>
          </a:p>
          <a:p>
            <a:pPr marL="256032" indent="-201168" algn="l">
              <a:spcAft>
                <a:spcPts val="600"/>
              </a:spcAft>
              <a:buChar char="•"/>
            </a:pPr>
            <a:r>
              <a:rPr sz="1500" b="1">
                <a:solidFill>
                  <a:srgbClr val="143242"/>
                </a:solidFill>
                <a:latin typeface="Calibri"/>
              </a:rPr>
              <a:t>Case 1, duplicate. </a:t>
            </a:r>
            <a:r>
              <a:rPr sz="1500" b="0">
                <a:solidFill>
                  <a:srgbClr val="1C2833"/>
                </a:solidFill>
                <a:latin typeface="Calibri"/>
              </a:rPr>
              <a:t>INV-1002 matches INV-1001 on supplier, purchase order, 9,800 USD, and currency. INV-1002 goes to REVIEW.</a:t>
            </a:r>
          </a:p>
          <a:p>
            <a:pPr marL="256032" indent="-201168" algn="l">
              <a:spcAft>
                <a:spcPts val="600"/>
              </a:spcAft>
              <a:buChar char="•"/>
            </a:pPr>
            <a:r>
              <a:rPr sz="1500" b="1">
                <a:solidFill>
                  <a:srgbClr val="143242"/>
                </a:solidFill>
                <a:latin typeface="Calibri"/>
              </a:rPr>
              <a:t>Case 2, alias. </a:t>
            </a:r>
            <a:r>
              <a:rPr sz="1500" b="0">
                <a:solidFill>
                  <a:srgbClr val="1C2833"/>
                </a:solidFill>
                <a:latin typeface="Calibri"/>
              </a:rPr>
              <a:t>An invoice that uses supplier id V201 joins to V-201 and goes to REVIEW.</a:t>
            </a:r>
          </a:p>
          <a:p>
            <a:pPr marL="256032" indent="-201168" algn="l">
              <a:spcAft>
                <a:spcPts val="600"/>
              </a:spcAft>
              <a:buChar char="•"/>
            </a:pPr>
            <a:r>
              <a:rPr sz="1500" b="1">
                <a:solidFill>
                  <a:srgbClr val="143242"/>
                </a:solidFill>
                <a:latin typeface="Calibri"/>
              </a:rPr>
              <a:t>Case 3, bank change. </a:t>
            </a:r>
            <a:r>
              <a:rPr sz="1500" b="0">
                <a:solidFill>
                  <a:srgbClr val="1C2833"/>
                </a:solidFill>
                <a:latin typeface="Calibri"/>
              </a:rPr>
              <a:t>CH-88, then INV-1003 and INV-1004, goes to REVIEW. The pair sum 9,900 is stored.</a:t>
            </a:r>
          </a:p>
          <a:p>
            <a:pPr marL="256032" indent="-201168" algn="l">
              <a:spcAft>
                <a:spcPts val="600"/>
              </a:spcAft>
              <a:buChar char="•"/>
            </a:pPr>
            <a:r>
              <a:rPr sz="1500" b="1">
                <a:solidFill>
                  <a:srgbClr val="143242"/>
                </a:solidFill>
                <a:latin typeface="Calibri"/>
              </a:rPr>
              <a:t>Case 4, scorer down. </a:t>
            </a:r>
            <a:r>
              <a:rPr sz="1500" b="0">
                <a:solidFill>
                  <a:srgbClr val="1C2833"/>
                </a:solidFill>
                <a:latin typeface="Calibri"/>
              </a:rPr>
              <a:t>The outcome is REVIEW. The rank is empty. The stored score stays empty.</a:t>
            </a:r>
          </a:p>
          <a:p>
            <a:pPr marL="256032" indent="-201168" algn="l">
              <a:spcAft>
                <a:spcPts val="600"/>
              </a:spcAft>
              <a:buChar char="•"/>
            </a:pPr>
            <a:r>
              <a:rPr sz="1500" b="1">
                <a:solidFill>
                  <a:srgbClr val="143242"/>
                </a:solidFill>
                <a:latin typeface="Calibri"/>
              </a:rPr>
              <a:t>Case 5, pay twice. </a:t>
            </a:r>
            <a:r>
              <a:rPr sz="1500" b="0">
                <a:solidFill>
                  <a:srgbClr val="1C2833"/>
                </a:solidFill>
                <a:latin typeface="Calibri"/>
              </a:rPr>
              <a:t>The same payment key leaves the payment count at 1.</a:t>
            </a:r>
          </a:p>
          <a:p>
            <a:pPr marL="256032" indent="-201168" algn="l">
              <a:spcAft>
                <a:spcPts val="600"/>
              </a:spcAft>
              <a:buChar char="•"/>
            </a:pPr>
            <a:r>
              <a:rPr sz="1500" b="1">
                <a:solidFill>
                  <a:srgbClr val="143242"/>
                </a:solidFill>
                <a:latin typeface="Calibri"/>
              </a:rPr>
              <a:t>New limits. </a:t>
            </a:r>
            <a:r>
              <a:rPr sz="1500" b="0">
                <a:solidFill>
                  <a:srgbClr val="1C2833"/>
                </a:solidFill>
                <a:latin typeface="Calibri"/>
              </a:rPr>
              <a:t>Every new number stays unset until a later note names an owner. REVIEW still runs on rules that need no new number.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D4  ·  DEMO ON 22 SEP 2026</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Five clicked cases passed on the local app</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5  /  11</a:t>
            </a:r>
          </a:p>
        </p:txBody>
      </p:sp>
      <p:sp>
        <p:nvSpPr>
          <p:cNvPr id="8" name="TextBox 7"/>
          <p:cNvSpPr txBox="1"/>
          <p:nvPr/>
        </p:nvSpPr>
        <p:spPr>
          <a:xfrm>
            <a:off x="502920" y="1261872"/>
            <a:ext cx="11155680" cy="5120640"/>
          </a:xfrm>
          <a:prstGeom prst="rect">
            <a:avLst/>
          </a:prstGeom>
          <a:noFill/>
        </p:spPr>
        <p:txBody>
          <a:bodyPr wrap="square"/>
          <a:lstStyle/>
          <a:p>
            <a:pPr marL="256032" indent="-201168" algn="l">
              <a:spcAft>
                <a:spcPts val="500"/>
              </a:spcAft>
              <a:buChar char="•"/>
            </a:pPr>
            <a:r>
              <a:rPr sz="1500" b="1">
                <a:solidFill>
                  <a:srgbClr val="143242"/>
                </a:solidFill>
                <a:latin typeface="Calibri"/>
              </a:rPr>
              <a:t>Where we clicked. </a:t>
            </a:r>
            <a:r>
              <a:rPr sz="1500" b="0">
                <a:solidFill>
                  <a:srgbClr val="1C2833"/>
                </a:solidFill>
                <a:latin typeface="Calibri"/>
              </a:rPr>
              <a:t>Local app at localhost port 3000. The hosted Studio page stopped at Google sign-in.</a:t>
            </a:r>
          </a:p>
          <a:p>
            <a:pPr marL="256032" indent="-201168" algn="l">
              <a:spcAft>
                <a:spcPts val="500"/>
              </a:spcAft>
              <a:buChar char="•"/>
            </a:pPr>
            <a:r>
              <a:rPr sz="1500" b="1">
                <a:solidFill>
                  <a:srgbClr val="143242"/>
                </a:solidFill>
                <a:latin typeface="Calibri"/>
              </a:rPr>
              <a:t>The path. </a:t>
            </a:r>
            <a:r>
              <a:rPr sz="1500" b="0">
                <a:solidFill>
                  <a:srgbClr val="1C2833"/>
                </a:solidFill>
                <a:latin typeface="Calibri"/>
              </a:rPr>
              <a:t>Ingest, Extract, Verify, Detect, Score + Decide, Review, Notify, Pay, then Case History.</a:t>
            </a:r>
          </a:p>
          <a:p>
            <a:pPr marL="256032" indent="-201168" algn="l">
              <a:spcAft>
                <a:spcPts val="500"/>
              </a:spcAft>
              <a:buChar char="•"/>
            </a:pPr>
            <a:r>
              <a:rPr sz="1500" b="1">
                <a:solidFill>
                  <a:srgbClr val="143242"/>
                </a:solidFill>
                <a:latin typeface="Calibri"/>
              </a:rPr>
              <a:t>Duplicate. </a:t>
            </a:r>
            <a:r>
              <a:rPr sz="1500" b="0">
                <a:solidFill>
                  <a:srgbClr val="1C2833"/>
                </a:solidFill>
                <a:latin typeface="Calibri"/>
              </a:rPr>
              <a:t>INV-1002 went to REVIEW. Reason DUP_SUPPLIER_PO_AMOUNT. Payment count stayed 0. PASS.</a:t>
            </a:r>
          </a:p>
          <a:p>
            <a:pPr marL="256032" indent="-201168" algn="l">
              <a:spcAft>
                <a:spcPts val="500"/>
              </a:spcAft>
              <a:buChar char="•"/>
            </a:pPr>
            <a:r>
              <a:rPr sz="1500" b="1">
                <a:solidFill>
                  <a:srgbClr val="143242"/>
                </a:solidFill>
                <a:latin typeface="Calibri"/>
              </a:rPr>
              <a:t>Alias. </a:t>
            </a:r>
            <a:r>
              <a:rPr sz="1500" b="0">
                <a:solidFill>
                  <a:srgbClr val="1C2833"/>
                </a:solidFill>
                <a:latin typeface="Calibri"/>
              </a:rPr>
              <a:t>Invoice INV-1006-ALIAS used raw id V201, joined to V-201, and went to REVIEW. PASS.</a:t>
            </a:r>
          </a:p>
          <a:p>
            <a:pPr marL="256032" indent="-201168" algn="l">
              <a:spcAft>
                <a:spcPts val="500"/>
              </a:spcAft>
              <a:buChar char="•"/>
            </a:pPr>
            <a:r>
              <a:rPr sz="1500" b="1">
                <a:solidFill>
                  <a:srgbClr val="143242"/>
                </a:solidFill>
                <a:latin typeface="Calibri"/>
              </a:rPr>
              <a:t>Bank change. </a:t>
            </a:r>
            <a:r>
              <a:rPr sz="1500" b="0">
                <a:solidFill>
                  <a:srgbClr val="1C2833"/>
                </a:solidFill>
                <a:latin typeface="Calibri"/>
              </a:rPr>
              <a:t>INV-1003 and INV-1004 stayed REVIEW. Ada could disagree. A blank name was refused. PASS.</a:t>
            </a:r>
          </a:p>
          <a:p>
            <a:pPr marL="256032" indent="-201168" algn="l">
              <a:spcAft>
                <a:spcPts val="500"/>
              </a:spcAft>
              <a:buChar char="•"/>
            </a:pPr>
            <a:r>
              <a:rPr sz="1500" b="1">
                <a:solidFill>
                  <a:srgbClr val="143242"/>
                </a:solidFill>
                <a:latin typeface="Calibri"/>
              </a:rPr>
              <a:t>Scorer down. </a:t>
            </a:r>
            <a:r>
              <a:rPr sz="1500" b="0">
                <a:solidFill>
                  <a:srgbClr val="1C2833"/>
                </a:solidFill>
                <a:latin typeface="Calibri"/>
              </a:rPr>
              <a:t>INV-1005 showed rank NULL and banner UNSCORED. Outcome REVIEW. PASS.</a:t>
            </a:r>
          </a:p>
          <a:p>
            <a:pPr marL="256032" indent="-201168" algn="l">
              <a:spcAft>
                <a:spcPts val="500"/>
              </a:spcAft>
              <a:buChar char="•"/>
            </a:pPr>
            <a:r>
              <a:rPr sz="1500" b="1">
                <a:solidFill>
                  <a:srgbClr val="143242"/>
                </a:solidFill>
                <a:latin typeface="Calibri"/>
              </a:rPr>
              <a:t>Pay twice. </a:t>
            </a:r>
            <a:r>
              <a:rPr sz="1500" b="0">
                <a:solidFill>
                  <a:srgbClr val="1C2833"/>
                </a:solidFill>
                <a:latin typeface="Calibri"/>
              </a:rPr>
              <a:t>INV-1005 went from payment count 0 to 1. The second click stayed at 1. Key INV-1005:payment. PASS.</a:t>
            </a:r>
          </a:p>
          <a:p>
            <a:pPr marL="256032" indent="-201168" algn="l">
              <a:spcAft>
                <a:spcPts val="500"/>
              </a:spcAft>
              <a:buChar char="•"/>
            </a:pPr>
            <a:r>
              <a:rPr sz="1500" b="1">
                <a:solidFill>
                  <a:srgbClr val="143242"/>
                </a:solidFill>
                <a:latin typeface="Calibri"/>
              </a:rPr>
              <a:t>The rank. </a:t>
            </a:r>
            <a:r>
              <a:rPr sz="1500" b="0">
                <a:solidFill>
                  <a:srgbClr val="1C2833"/>
                </a:solidFill>
                <a:latin typeface="Calibri"/>
              </a:rPr>
              <a:t>It is an order in a set of invoices. On INV-1003 the badge said PRECOMPUTED. PRECOMPUTED means the number was copied for the demo.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ONE REBUILT CASE</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Case History rebuilds INV-1003 after Ada’s click</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6  /  11</a:t>
            </a:r>
          </a:p>
        </p:txBody>
      </p:sp>
      <p:sp>
        <p:nvSpPr>
          <p:cNvPr id="8" name="TextBox 7"/>
          <p:cNvSpPr txBox="1"/>
          <p:nvPr/>
        </p:nvSpPr>
        <p:spPr>
          <a:xfrm>
            <a:off x="502920" y="1261872"/>
            <a:ext cx="11155680" cy="502920"/>
          </a:xfrm>
          <a:prstGeom prst="rect">
            <a:avLst/>
          </a:prstGeom>
          <a:noFill/>
        </p:spPr>
        <p:txBody>
          <a:bodyPr wrap="square"/>
          <a:lstStyle/>
          <a:p>
            <a:r>
              <a:rPr sz="1600" b="0">
                <a:solidFill>
                  <a:srgbClr val="1C2833"/>
                </a:solidFill>
                <a:latin typeface="Calibri"/>
              </a:rPr>
              <a:t>Before the click, Case History showed 0 audit rows. After Disagree, it showed 1 row.</a:t>
            </a:r>
          </a:p>
        </p:txBody>
      </p:sp>
      <p:graphicFrame>
        <p:nvGraphicFramePr>
          <p:cNvPr id="9" name="Table 8"/>
          <p:cNvGraphicFramePr>
            <a:graphicFrameLocks noGrp="1"/>
          </p:cNvGraphicFramePr>
          <p:nvPr/>
        </p:nvGraphicFramePr>
        <p:xfrm>
          <a:off x="502920" y="1828800"/>
          <a:ext cx="11155680" cy="44348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8961120">
                  <a:extLst>
                    <a:ext uri="{9D8B030D-6E8A-4147-A177-3AD203B41FA5}">
                      <a16:colId xmlns:a16="http://schemas.microsoft.com/office/drawing/2014/main" val="20001"/>
                    </a:ext>
                  </a:extLst>
                </a:gridCol>
              </a:tblGrid>
              <a:tr h="443484">
                <a:tc>
                  <a:txBody>
                    <a:bodyPr/>
                    <a:lstStyle/>
                    <a:p>
                      <a:pPr algn="l"/>
                      <a:r>
                        <a:rPr sz="1300" b="1">
                          <a:solidFill>
                            <a:srgbClr val="FFFFFF"/>
                          </a:solidFill>
                          <a:latin typeface="Calibri"/>
                        </a:rPr>
                        <a:t>Field</a:t>
                      </a:r>
                    </a:p>
                  </a:txBody>
                  <a:tcPr marR="73152" marT="36576" marB="36576" anchor="ctr">
                    <a:solidFill>
                      <a:srgbClr val="143242"/>
                    </a:solidFill>
                  </a:tcPr>
                </a:tc>
                <a:tc>
                  <a:txBody>
                    <a:bodyPr/>
                    <a:lstStyle/>
                    <a:p>
                      <a:pPr algn="l"/>
                      <a:r>
                        <a:rPr sz="1300" b="1">
                          <a:solidFill>
                            <a:srgbClr val="FFFFFF"/>
                          </a:solidFill>
                          <a:latin typeface="Calibri"/>
                        </a:rPr>
                        <a:t>Value on the audit row</a:t>
                      </a:r>
                    </a:p>
                  </a:txBody>
                  <a:tcPr marR="73152" marT="36576" marB="36576" anchor="ctr">
                    <a:solidFill>
                      <a:srgbClr val="143242"/>
                    </a:solidFill>
                  </a:tcPr>
                </a:tc>
                <a:extLst>
                  <a:ext uri="{0D108BD9-81ED-4DB2-BD59-A6C34878D82A}">
                    <a16:rowId xmlns:a16="http://schemas.microsoft.com/office/drawing/2014/main" val="10000"/>
                  </a:ext>
                </a:extLst>
              </a:tr>
              <a:tr h="443484">
                <a:tc>
                  <a:txBody>
                    <a:bodyPr/>
                    <a:lstStyle/>
                    <a:p>
                      <a:pPr algn="l"/>
                      <a:r>
                        <a:rPr sz="1300" b="1">
                          <a:solidFill>
                            <a:srgbClr val="1C2833"/>
                          </a:solidFill>
                          <a:latin typeface="Calibri"/>
                        </a:rPr>
                        <a:t>Actor</a:t>
                      </a:r>
                    </a:p>
                  </a:txBody>
                  <a:tcPr marR="73152" marT="36576" marB="36576" anchor="ctr">
                    <a:solidFill>
                      <a:srgbClr val="FFFFFF"/>
                    </a:solidFill>
                  </a:tcPr>
                </a:tc>
                <a:tc>
                  <a:txBody>
                    <a:bodyPr/>
                    <a:lstStyle/>
                    <a:p>
                      <a:pPr algn="l"/>
                      <a:r>
                        <a:rPr sz="1300" b="0">
                          <a:solidFill>
                            <a:srgbClr val="1C2833"/>
                          </a:solidFill>
                          <a:latin typeface="Calibri"/>
                        </a:rPr>
                        <a:t>Ada</a:t>
                      </a:r>
                    </a:p>
                  </a:txBody>
                  <a:tcPr marR="73152" marT="36576" marB="36576" anchor="ctr">
                    <a:solidFill>
                      <a:srgbClr val="FFFFFF"/>
                    </a:solidFill>
                  </a:tcPr>
                </a:tc>
                <a:extLst>
                  <a:ext uri="{0D108BD9-81ED-4DB2-BD59-A6C34878D82A}">
                    <a16:rowId xmlns:a16="http://schemas.microsoft.com/office/drawing/2014/main" val="10001"/>
                  </a:ext>
                </a:extLst>
              </a:tr>
              <a:tr h="443484">
                <a:tc>
                  <a:txBody>
                    <a:bodyPr/>
                    <a:lstStyle/>
                    <a:p>
                      <a:pPr algn="l"/>
                      <a:r>
                        <a:rPr sz="1300" b="1">
                          <a:solidFill>
                            <a:srgbClr val="1C2833"/>
                          </a:solidFill>
                          <a:latin typeface="Calibri"/>
                        </a:rPr>
                        <a:t>From-state</a:t>
                      </a:r>
                    </a:p>
                  </a:txBody>
                  <a:tcPr marR="73152" marT="36576" marB="36576" anchor="ctr">
                    <a:solidFill>
                      <a:srgbClr val="F4F7F8"/>
                    </a:solidFill>
                  </a:tcPr>
                </a:tc>
                <a:tc>
                  <a:txBody>
                    <a:bodyPr/>
                    <a:lstStyle/>
                    <a:p>
                      <a:pPr algn="l"/>
                      <a:r>
                        <a:rPr sz="1300" b="0">
                          <a:solidFill>
                            <a:srgbClr val="1C2833"/>
                          </a:solidFill>
                          <a:latin typeface="Calibri"/>
                        </a:rPr>
                        <a:t>DECIDED</a:t>
                      </a:r>
                    </a:p>
                  </a:txBody>
                  <a:tcPr marR="73152" marT="36576" marB="36576" anchor="ctr">
                    <a:solidFill>
                      <a:srgbClr val="F4F7F8"/>
                    </a:solidFill>
                  </a:tcPr>
                </a:tc>
                <a:extLst>
                  <a:ext uri="{0D108BD9-81ED-4DB2-BD59-A6C34878D82A}">
                    <a16:rowId xmlns:a16="http://schemas.microsoft.com/office/drawing/2014/main" val="10002"/>
                  </a:ext>
                </a:extLst>
              </a:tr>
              <a:tr h="443484">
                <a:tc>
                  <a:txBody>
                    <a:bodyPr/>
                    <a:lstStyle/>
                    <a:p>
                      <a:pPr algn="l"/>
                      <a:r>
                        <a:rPr sz="1300" b="1">
                          <a:solidFill>
                            <a:srgbClr val="1C2833"/>
                          </a:solidFill>
                          <a:latin typeface="Calibri"/>
                        </a:rPr>
                        <a:t>To-state</a:t>
                      </a:r>
                    </a:p>
                  </a:txBody>
                  <a:tcPr marR="73152" marT="36576" marB="36576" anchor="ctr">
                    <a:solidFill>
                      <a:srgbClr val="FFFFFF"/>
                    </a:solidFill>
                  </a:tcPr>
                </a:tc>
                <a:tc>
                  <a:txBody>
                    <a:bodyPr/>
                    <a:lstStyle/>
                    <a:p>
                      <a:pPr algn="l"/>
                      <a:r>
                        <a:rPr sz="1300" b="0">
                          <a:solidFill>
                            <a:srgbClr val="1C2833"/>
                          </a:solidFill>
                          <a:latin typeface="Calibri"/>
                        </a:rPr>
                        <a:t>REVIEWED</a:t>
                      </a:r>
                    </a:p>
                  </a:txBody>
                  <a:tcPr marR="73152" marT="36576" marB="36576" anchor="ctr">
                    <a:solidFill>
                      <a:srgbClr val="FFFFFF"/>
                    </a:solidFill>
                  </a:tcPr>
                </a:tc>
                <a:extLst>
                  <a:ext uri="{0D108BD9-81ED-4DB2-BD59-A6C34878D82A}">
                    <a16:rowId xmlns:a16="http://schemas.microsoft.com/office/drawing/2014/main" val="10003"/>
                  </a:ext>
                </a:extLst>
              </a:tr>
              <a:tr h="443484">
                <a:tc>
                  <a:txBody>
                    <a:bodyPr/>
                    <a:lstStyle/>
                    <a:p>
                      <a:pPr algn="l"/>
                      <a:r>
                        <a:rPr sz="1300" b="1">
                          <a:solidFill>
                            <a:srgbClr val="1C2833"/>
                          </a:solidFill>
                          <a:latin typeface="Calibri"/>
                        </a:rPr>
                        <a:t>Outcome</a:t>
                      </a:r>
                    </a:p>
                  </a:txBody>
                  <a:tcPr marR="73152" marT="36576" marB="36576" anchor="ctr">
                    <a:solidFill>
                      <a:srgbClr val="F4F7F8"/>
                    </a:solidFill>
                  </a:tcPr>
                </a:tc>
                <a:tc>
                  <a:txBody>
                    <a:bodyPr/>
                    <a:lstStyle/>
                    <a:p>
                      <a:pPr algn="l"/>
                      <a:r>
                        <a:rPr sz="1300" b="0">
                          <a:solidFill>
                            <a:srgbClr val="1C2833"/>
                          </a:solidFill>
                          <a:latin typeface="Calibri"/>
                        </a:rPr>
                        <a:t>APPROVE</a:t>
                      </a:r>
                    </a:p>
                  </a:txBody>
                  <a:tcPr marR="73152" marT="36576" marB="36576" anchor="ctr">
                    <a:solidFill>
                      <a:srgbClr val="F4F7F8"/>
                    </a:solidFill>
                  </a:tcPr>
                </a:tc>
                <a:extLst>
                  <a:ext uri="{0D108BD9-81ED-4DB2-BD59-A6C34878D82A}">
                    <a16:rowId xmlns:a16="http://schemas.microsoft.com/office/drawing/2014/main" val="10004"/>
                  </a:ext>
                </a:extLst>
              </a:tr>
              <a:tr h="443484">
                <a:tc>
                  <a:txBody>
                    <a:bodyPr/>
                    <a:lstStyle/>
                    <a:p>
                      <a:pPr algn="l"/>
                      <a:r>
                        <a:rPr sz="1300" b="1">
                          <a:solidFill>
                            <a:srgbClr val="1C2833"/>
                          </a:solidFill>
                          <a:latin typeface="Calibri"/>
                        </a:rPr>
                        <a:t>Score text</a:t>
                      </a:r>
                    </a:p>
                  </a:txBody>
                  <a:tcPr marR="73152" marT="36576" marB="36576" anchor="ctr">
                    <a:solidFill>
                      <a:srgbClr val="FFFFFF"/>
                    </a:solidFill>
                  </a:tcPr>
                </a:tc>
                <a:tc>
                  <a:txBody>
                    <a:bodyPr/>
                    <a:lstStyle/>
                    <a:p>
                      <a:pPr algn="l"/>
                      <a:r>
                        <a:rPr sz="1300" b="0">
                          <a:solidFill>
                            <a:srgbClr val="1C2833"/>
                          </a:solidFill>
                          <a:latin typeface="Calibri"/>
                        </a:rPr>
                        <a:t>#2 of 420 cohort. Detect badge: PRECOMPUTED. Raw index 0.96.</a:t>
                      </a:r>
                    </a:p>
                  </a:txBody>
                  <a:tcPr marR="73152" marT="36576" marB="36576" anchor="ctr">
                    <a:solidFill>
                      <a:srgbClr val="FFFFFF"/>
                    </a:solidFill>
                  </a:tcPr>
                </a:tc>
                <a:extLst>
                  <a:ext uri="{0D108BD9-81ED-4DB2-BD59-A6C34878D82A}">
                    <a16:rowId xmlns:a16="http://schemas.microsoft.com/office/drawing/2014/main" val="10005"/>
                  </a:ext>
                </a:extLst>
              </a:tr>
              <a:tr h="443484">
                <a:tc>
                  <a:txBody>
                    <a:bodyPr/>
                    <a:lstStyle/>
                    <a:p>
                      <a:pPr algn="l"/>
                      <a:r>
                        <a:rPr sz="1300" b="1">
                          <a:solidFill>
                            <a:srgbClr val="1C2833"/>
                          </a:solidFill>
                          <a:latin typeface="Calibri"/>
                        </a:rPr>
                        <a:t>Reasons</a:t>
                      </a:r>
                    </a:p>
                  </a:txBody>
                  <a:tcPr marR="73152" marT="36576" marB="36576" anchor="ctr">
                    <a:solidFill>
                      <a:srgbClr val="F4F7F8"/>
                    </a:solidFill>
                  </a:tcPr>
                </a:tc>
                <a:tc>
                  <a:txBody>
                    <a:bodyPr/>
                    <a:lstStyle/>
                    <a:p>
                      <a:pPr algn="l"/>
                      <a:r>
                        <a:rPr sz="1300" b="0">
                          <a:solidFill>
                            <a:srgbClr val="1C2833"/>
                          </a:solidFill>
                          <a:latin typeface="Calibri"/>
                        </a:rPr>
                        <a:t>NON_PO, BANK_CHANGE_LINKED, SOD_SAME_USER_BANK, SPLIT_SIBLING_SUM, POLICY_REVIEW</a:t>
                      </a:r>
                    </a:p>
                  </a:txBody>
                  <a:tcPr marR="73152" marT="36576" marB="36576" anchor="ctr">
                    <a:solidFill>
                      <a:srgbClr val="F4F7F8"/>
                    </a:solidFill>
                  </a:tcPr>
                </a:tc>
                <a:extLst>
                  <a:ext uri="{0D108BD9-81ED-4DB2-BD59-A6C34878D82A}">
                    <a16:rowId xmlns:a16="http://schemas.microsoft.com/office/drawing/2014/main" val="10006"/>
                  </a:ext>
                </a:extLst>
              </a:tr>
              <a:tr h="443484">
                <a:tc>
                  <a:txBody>
                    <a:bodyPr/>
                    <a:lstStyle/>
                    <a:p>
                      <a:pPr algn="l"/>
                      <a:r>
                        <a:rPr sz="1300" b="1">
                          <a:solidFill>
                            <a:srgbClr val="1C2833"/>
                          </a:solidFill>
                          <a:latin typeface="Calibri"/>
                        </a:rPr>
                        <a:t>Model version</a:t>
                      </a:r>
                    </a:p>
                  </a:txBody>
                  <a:tcPr marR="73152" marT="36576" marB="36576" anchor="ctr">
                    <a:solidFill>
                      <a:srgbClr val="FFFFFF"/>
                    </a:solidFill>
                  </a:tcPr>
                </a:tc>
                <a:tc>
                  <a:txBody>
                    <a:bodyPr/>
                    <a:lstStyle/>
                    <a:p>
                      <a:pPr algn="l"/>
                      <a:r>
                        <a:rPr sz="1300" b="0">
                          <a:solidFill>
                            <a:srgbClr val="1C2833"/>
                          </a:solidFill>
                          <a:latin typeface="Calibri"/>
                        </a:rPr>
                        <a:t>p2p-risk-2</a:t>
                      </a:r>
                    </a:p>
                  </a:txBody>
                  <a:tcPr marR="73152" marT="36576" marB="36576" anchor="ctr">
                    <a:solidFill>
                      <a:srgbClr val="FFFFFF"/>
                    </a:solidFill>
                  </a:tcPr>
                </a:tc>
                <a:extLst>
                  <a:ext uri="{0D108BD9-81ED-4DB2-BD59-A6C34878D82A}">
                    <a16:rowId xmlns:a16="http://schemas.microsoft.com/office/drawing/2014/main" val="10007"/>
                  </a:ext>
                </a:extLst>
              </a:tr>
              <a:tr h="443484">
                <a:tc>
                  <a:txBody>
                    <a:bodyPr/>
                    <a:lstStyle/>
                    <a:p>
                      <a:pPr algn="l"/>
                      <a:r>
                        <a:rPr sz="1300" b="1">
                          <a:solidFill>
                            <a:srgbClr val="1C2833"/>
                          </a:solidFill>
                          <a:latin typeface="Calibri"/>
                        </a:rPr>
                        <a:t>Rule version</a:t>
                      </a:r>
                    </a:p>
                  </a:txBody>
                  <a:tcPr marR="73152" marT="36576" marB="36576" anchor="ctr">
                    <a:solidFill>
                      <a:srgbClr val="F4F7F8"/>
                    </a:solidFill>
                  </a:tcPr>
                </a:tc>
                <a:tc>
                  <a:txBody>
                    <a:bodyPr/>
                    <a:lstStyle/>
                    <a:p>
                      <a:pPr algn="l"/>
                      <a:r>
                        <a:rPr sz="1300" b="0">
                          <a:solidFill>
                            <a:srgbClr val="1C2833"/>
                          </a:solidFill>
                          <a:latin typeface="Calibri"/>
                        </a:rPr>
                        <a:t>p2p-rules-v2.0</a:t>
                      </a:r>
                    </a:p>
                  </a:txBody>
                  <a:tcPr marR="73152" marT="36576" marB="36576" anchor="ctr">
                    <a:solidFill>
                      <a:srgbClr val="F4F7F8"/>
                    </a:solidFill>
                  </a:tcPr>
                </a:tc>
                <a:extLst>
                  <a:ext uri="{0D108BD9-81ED-4DB2-BD59-A6C34878D82A}">
                    <a16:rowId xmlns:a16="http://schemas.microsoft.com/office/drawing/2014/main" val="10008"/>
                  </a:ext>
                </a:extLst>
              </a:tr>
              <a:tr h="443484">
                <a:tc>
                  <a:txBody>
                    <a:bodyPr/>
                    <a:lstStyle/>
                    <a:p>
                      <a:pPr algn="l"/>
                      <a:r>
                        <a:rPr sz="1300" b="1">
                          <a:solidFill>
                            <a:srgbClr val="1C2833"/>
                          </a:solidFill>
                          <a:latin typeface="Calibri"/>
                        </a:rPr>
                        <a:t>Prompt id</a:t>
                      </a:r>
                    </a:p>
                  </a:txBody>
                  <a:tcPr marR="73152" marT="36576" marB="36576" anchor="ctr">
                    <a:solidFill>
                      <a:srgbClr val="FFFFFF"/>
                    </a:solidFill>
                  </a:tcPr>
                </a:tc>
                <a:tc>
                  <a:txBody>
                    <a:bodyPr/>
                    <a:lstStyle/>
                    <a:p>
                      <a:pPr algn="l"/>
                      <a:r>
                        <a:rPr sz="1300" b="0">
                          <a:solidFill>
                            <a:srgbClr val="1C2833"/>
                          </a:solidFill>
                          <a:latin typeface="Calibri"/>
                        </a:rPr>
                        <a:t>Unknown. The notes do not list one.</a:t>
                      </a:r>
                    </a:p>
                  </a:txBody>
                  <a:tcPr marR="73152" marT="36576" marB="36576"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11155680" cy="256032"/>
          </a:xfrm>
          <a:prstGeom prst="rect">
            <a:avLst/>
          </a:prstGeom>
          <a:noFill/>
        </p:spPr>
        <p:txBody>
          <a:bodyPr wrap="square"/>
          <a:lstStyle/>
          <a:p>
            <a:r>
              <a:rPr sz="1200" b="1">
                <a:solidFill>
                  <a:srgbClr val="0E6B66"/>
                </a:solidFill>
                <a:latin typeface="Calibri"/>
              </a:rPr>
              <a:t>RESIDUAL RISK AND UNKNOWNS</a:t>
            </a:r>
          </a:p>
        </p:txBody>
      </p:sp>
      <p:sp>
        <p:nvSpPr>
          <p:cNvPr id="4" name="TextBox 3"/>
          <p:cNvSpPr txBox="1"/>
          <p:nvPr/>
        </p:nvSpPr>
        <p:spPr>
          <a:xfrm>
            <a:off x="502920" y="420624"/>
            <a:ext cx="11155680" cy="640080"/>
          </a:xfrm>
          <a:prstGeom prst="rect">
            <a:avLst/>
          </a:prstGeom>
          <a:noFill/>
        </p:spPr>
        <p:txBody>
          <a:bodyPr wrap="square"/>
          <a:lstStyle/>
          <a:p>
            <a:r>
              <a:rPr sz="2800" b="1">
                <a:solidFill>
                  <a:srgbClr val="143242"/>
                </a:solidFill>
                <a:latin typeface="Calibri"/>
              </a:rPr>
              <a:t>These items stay open on purpose</a:t>
            </a:r>
          </a:p>
        </p:txBody>
      </p:sp>
      <p:sp>
        <p:nvSpPr>
          <p:cNvPr id="5" name="Rectangle 4"/>
          <p:cNvSpPr/>
          <p:nvPr/>
        </p:nvSpPr>
        <p:spPr>
          <a:xfrm>
            <a:off x="502920" y="111556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7  /  11</a:t>
            </a:r>
          </a:p>
        </p:txBody>
      </p:sp>
      <p:sp>
        <p:nvSpPr>
          <p:cNvPr id="8" name="TextBox 7"/>
          <p:cNvSpPr txBox="1"/>
          <p:nvPr/>
        </p:nvSpPr>
        <p:spPr>
          <a:xfrm>
            <a:off x="502920" y="1261872"/>
            <a:ext cx="11155680" cy="5120640"/>
          </a:xfrm>
          <a:prstGeom prst="rect">
            <a:avLst/>
          </a:prstGeom>
          <a:noFill/>
        </p:spPr>
        <p:txBody>
          <a:bodyPr wrap="square"/>
          <a:lstStyle/>
          <a:p>
            <a:pPr marL="256032" indent="-201168" algn="l">
              <a:spcAft>
                <a:spcPts val="500"/>
              </a:spcAft>
              <a:buChar char="•"/>
            </a:pPr>
            <a:r>
              <a:rPr sz="1500" b="1">
                <a:solidFill>
                  <a:srgbClr val="143242"/>
                </a:solidFill>
                <a:latin typeface="Calibri"/>
              </a:rPr>
              <a:t>Legal checks. </a:t>
            </a:r>
            <a:r>
              <a:rPr sz="1500" b="0">
                <a:solidFill>
                  <a:srgbClr val="1C2833"/>
                </a:solidFill>
                <a:latin typeface="Calibri"/>
              </a:rPr>
              <a:t>Statutes, sanctions, politically exposed persons, and address checks are Unknown. The invoice rows have no country.</a:t>
            </a:r>
          </a:p>
          <a:p>
            <a:pPr marL="256032" indent="-201168" algn="l">
              <a:spcAft>
                <a:spcPts val="500"/>
              </a:spcAft>
              <a:buChar char="•"/>
            </a:pPr>
            <a:r>
              <a:rPr sz="1500" b="1">
                <a:solidFill>
                  <a:srgbClr val="143242"/>
                </a:solidFill>
                <a:latin typeface="Calibri"/>
              </a:rPr>
              <a:t>Missing feeds. </a:t>
            </a:r>
            <a:r>
              <a:rPr sz="1500" b="0">
                <a:solidFill>
                  <a:srgbClr val="1C2833"/>
                </a:solidFill>
                <a:latin typeface="Calibri"/>
              </a:rPr>
              <a:t>The goods-receipt file is Missing. The price list is Unknown.</a:t>
            </a:r>
          </a:p>
          <a:p>
            <a:pPr marL="256032" indent="-201168" algn="l">
              <a:spcAft>
                <a:spcPts val="500"/>
              </a:spcAft>
              <a:buChar char="•"/>
            </a:pPr>
            <a:r>
              <a:rPr sz="1500" b="1">
                <a:solidFill>
                  <a:srgbClr val="143242"/>
                </a:solidFill>
                <a:latin typeface="Calibri"/>
              </a:rPr>
              <a:t>Named owners. </a:t>
            </a:r>
            <a:r>
              <a:rPr sz="1500" b="0">
                <a:solidFill>
                  <a:srgbClr val="1C2833"/>
                </a:solidFill>
                <a:latin typeface="Calibri"/>
              </a:rPr>
              <a:t>Review owner, payer, model owner, data owner, and the P2P-05 owner are Missing or TBD.</a:t>
            </a:r>
          </a:p>
          <a:p>
            <a:pPr marL="256032" indent="-201168" algn="l">
              <a:spcAft>
                <a:spcPts val="500"/>
              </a:spcAft>
              <a:buChar char="•"/>
            </a:pPr>
            <a:r>
              <a:rPr sz="1500" b="1">
                <a:solidFill>
                  <a:srgbClr val="143242"/>
                </a:solidFill>
                <a:latin typeface="Calibri"/>
              </a:rPr>
              <a:t>Unset numbers. </a:t>
            </a:r>
            <a:r>
              <a:rPr sz="1500" b="0">
                <a:solidFill>
                  <a:srgbClr val="1C2833"/>
                </a:solidFill>
                <a:latin typeface="Calibri"/>
              </a:rPr>
              <a:t>New amount lines, the sibling time window, contest days, and how long to keep records stay unset. The sibling pair in force is INV-1003 and INV-1004.</a:t>
            </a:r>
          </a:p>
          <a:p>
            <a:pPr marL="256032" indent="-201168" algn="l">
              <a:spcAft>
                <a:spcPts val="500"/>
              </a:spcAft>
              <a:buChar char="•"/>
            </a:pPr>
            <a:r>
              <a:rPr sz="1500" b="1">
                <a:solidFill>
                  <a:srgbClr val="143242"/>
                </a:solidFill>
                <a:latin typeface="Calibri"/>
              </a:rPr>
              <a:t>Model gaps. </a:t>
            </a:r>
            <a:r>
              <a:rPr sz="1500" b="0">
                <a:solidFill>
                  <a:srgbClr val="1C2833"/>
                </a:solidFill>
                <a:latin typeface="Calibri"/>
              </a:rPr>
              <a:t>Precision and recall on p2p-risk-2 are blank. PR-AUC is Missing. No one has measured how many bad pays still get through.</a:t>
            </a:r>
          </a:p>
          <a:p>
            <a:pPr marL="256032" indent="-201168" algn="l">
              <a:spcAft>
                <a:spcPts val="500"/>
              </a:spcAft>
              <a:buChar char="•"/>
            </a:pPr>
            <a:r>
              <a:rPr sz="1500" b="1">
                <a:solidFill>
                  <a:srgbClr val="143242"/>
                </a:solidFill>
                <a:latin typeface="Calibri"/>
              </a:rPr>
              <a:t>Counts we did not run. </a:t>
            </a:r>
            <a:r>
              <a:rPr sz="1500" b="0">
                <a:solidFill>
                  <a:srgbClr val="1C2833"/>
                </a:solidFill>
                <a:latin typeface="Calibri"/>
              </a:rPr>
              <a:t>Naive and cached Pay and Notify counts are Unknown. The measured payment count on INV-1005 stayed at 1.</a:t>
            </a:r>
          </a:p>
          <a:p>
            <a:pPr marL="256032" indent="-201168" algn="l">
              <a:spcAft>
                <a:spcPts val="500"/>
              </a:spcAft>
              <a:buChar char="•"/>
            </a:pPr>
            <a:r>
              <a:rPr sz="1500" b="1">
                <a:solidFill>
                  <a:srgbClr val="143242"/>
                </a:solidFill>
                <a:latin typeface="Calibri"/>
              </a:rPr>
              <a:t>Clicks we did not make. </a:t>
            </a:r>
            <a:r>
              <a:rPr sz="1500" b="0">
                <a:solidFill>
                  <a:srgbClr val="1C2833"/>
                </a:solidFill>
                <a:latin typeface="Calibri"/>
              </a:rPr>
              <a:t>Open Contest was not recorded. A second write of the same audit id was not attempted.</a:t>
            </a:r>
          </a:p>
          <a:p>
            <a:pPr marL="256032" indent="-201168" algn="l">
              <a:spcAft>
                <a:spcPts val="500"/>
              </a:spcAft>
              <a:buChar char="•"/>
            </a:pPr>
            <a:r>
              <a:rPr sz="1500" b="1">
                <a:solidFill>
                  <a:srgbClr val="143242"/>
                </a:solidFill>
                <a:latin typeface="Calibri"/>
              </a:rPr>
              <a:t>The audit list. </a:t>
            </a:r>
            <a:r>
              <a:rPr sz="1500" b="0">
                <a:solidFill>
                  <a:srgbClr val="1C2833"/>
                </a:solidFill>
                <a:latin typeface="Calibri"/>
              </a:rPr>
              <a:t>It lives in the browser for this demo. It is a classroom copy of a store that refuses delete and overwrite.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46304"/>
            <a:ext cx="11338560" cy="219456"/>
          </a:xfrm>
          <a:prstGeom prst="rect">
            <a:avLst/>
          </a:prstGeom>
          <a:noFill/>
        </p:spPr>
        <p:txBody>
          <a:bodyPr wrap="square"/>
          <a:lstStyle/>
          <a:p>
            <a:r>
              <a:rPr sz="1200" b="1">
                <a:solidFill>
                  <a:srgbClr val="0E6B66"/>
                </a:solidFill>
                <a:latin typeface="Calibri"/>
              </a:rPr>
              <a:t>APPENDIX</a:t>
            </a:r>
          </a:p>
        </p:txBody>
      </p:sp>
      <p:sp>
        <p:nvSpPr>
          <p:cNvPr id="4" name="TextBox 3"/>
          <p:cNvSpPr txBox="1"/>
          <p:nvPr/>
        </p:nvSpPr>
        <p:spPr>
          <a:xfrm>
            <a:off x="411480" y="329184"/>
            <a:ext cx="11338560" cy="384048"/>
          </a:xfrm>
          <a:prstGeom prst="rect">
            <a:avLst/>
          </a:prstGeom>
          <a:noFill/>
        </p:spPr>
        <p:txBody>
          <a:bodyPr wrap="square"/>
          <a:lstStyle/>
          <a:p>
            <a:r>
              <a:rPr sz="2400" b="1">
                <a:solidFill>
                  <a:srgbClr val="143242"/>
                </a:solidFill>
                <a:latin typeface="Calibri"/>
              </a:rPr>
              <a:t>Repo 1.0 files compared with the D4 app</a:t>
            </a:r>
          </a:p>
        </p:txBody>
      </p:sp>
      <p:sp>
        <p:nvSpPr>
          <p:cNvPr id="5" name="TextBox 4"/>
          <p:cNvSpPr txBox="1"/>
          <p:nvPr/>
        </p:nvSpPr>
        <p:spPr>
          <a:xfrm>
            <a:off x="411480" y="749808"/>
            <a:ext cx="11338560" cy="329184"/>
          </a:xfrm>
          <a:prstGeom prst="rect">
            <a:avLst/>
          </a:prstGeom>
          <a:noFill/>
        </p:spPr>
        <p:txBody>
          <a:bodyPr wrap="square"/>
          <a:lstStyle/>
          <a:p>
            <a:r>
              <a:rPr sz="1300" b="0">
                <a:solidFill>
                  <a:srgbClr val="4E5D67"/>
                </a:solidFill>
                <a:latin typeface="Calibri"/>
              </a:rPr>
              <a:t>Repo 1.0 is the inherited file pack. The D4 app is the running demo built from the Repo 2.0 design.</a:t>
            </a:r>
          </a:p>
        </p:txBody>
      </p:sp>
      <p:sp>
        <p:nvSpPr>
          <p:cNvPr id="6" name="Rounded Rectangle 5"/>
          <p:cNvSpPr/>
          <p:nvPr/>
        </p:nvSpPr>
        <p:spPr>
          <a:xfrm>
            <a:off x="365760" y="1170432"/>
            <a:ext cx="5623560" cy="5230368"/>
          </a:xfrm>
          <a:prstGeom prst="round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2064" y="1243584"/>
            <a:ext cx="5321808" cy="530352"/>
          </a:xfrm>
          <a:prstGeom prst="rect">
            <a:avLst/>
          </a:prstGeom>
          <a:noFill/>
        </p:spPr>
        <p:txBody>
          <a:bodyPr wrap="square"/>
          <a:lstStyle/>
          <a:p>
            <a:r>
              <a:rPr sz="1400" b="1">
                <a:solidFill>
                  <a:srgbClr val="143242"/>
                </a:solidFill>
                <a:latin typeface="Calibri"/>
              </a:rPr>
              <a:t>Repo 1.0  ·  inherited files</a:t>
            </a:r>
          </a:p>
        </p:txBody>
      </p:sp>
      <p:sp>
        <p:nvSpPr>
          <p:cNvPr id="8" name="TextBox 7"/>
          <p:cNvSpPr txBox="1"/>
          <p:nvPr/>
        </p:nvSpPr>
        <p:spPr>
          <a:xfrm>
            <a:off x="493776" y="1792224"/>
            <a:ext cx="5358384" cy="4480560"/>
          </a:xfrm>
          <a:prstGeom prst="rect">
            <a:avLst/>
          </a:prstGeom>
          <a:noFill/>
        </p:spPr>
        <p:txBody>
          <a:bodyPr wrap="square"/>
          <a:lstStyle/>
          <a:p>
            <a:pPr algn="l">
              <a:spcBef>
                <a:spcPts val="200"/>
              </a:spcBef>
              <a:spcAft>
                <a:spcPts val="300"/>
              </a:spcAft>
            </a:pPr>
            <a:r>
              <a:rPr sz="1200" b="1" dirty="0">
                <a:solidFill>
                  <a:srgbClr val="143242"/>
                </a:solidFill>
                <a:latin typeface="Calibri"/>
              </a:rPr>
              <a:t>A. Features</a:t>
            </a:r>
          </a:p>
          <a:p>
            <a:pPr marL="201168" indent="-146304" algn="l">
              <a:spcBef>
                <a:spcPts val="0"/>
              </a:spcBef>
              <a:spcAft>
                <a:spcPts val="300"/>
              </a:spcAft>
              <a:buChar char="•"/>
            </a:pPr>
            <a:r>
              <a:rPr sz="1200" b="0" dirty="0">
                <a:solidFill>
                  <a:srgbClr val="1C2833"/>
                </a:solidFill>
                <a:latin typeface="Calibri"/>
              </a:rPr>
              <a:t>A folder of files. Four invoices, two supplier changes, alias names, rules, a model card, and five controls.</a:t>
            </a:r>
          </a:p>
          <a:p>
            <a:pPr marL="201168" indent="-146304" algn="l">
              <a:spcBef>
                <a:spcPts val="0"/>
              </a:spcBef>
              <a:spcAft>
                <a:spcPts val="300"/>
              </a:spcAft>
              <a:buChar char="•"/>
            </a:pPr>
            <a:r>
              <a:rPr sz="1200" b="0" dirty="0">
                <a:solidFill>
                  <a:srgbClr val="1C2833"/>
                </a:solidFill>
                <a:latin typeface="Calibri"/>
              </a:rPr>
              <a:t>Duplicate check uses the invoice number only.</a:t>
            </a:r>
          </a:p>
          <a:p>
            <a:pPr marL="201168" indent="-146304" algn="l">
              <a:spcBef>
                <a:spcPts val="0"/>
              </a:spcBef>
              <a:spcAft>
                <a:spcPts val="300"/>
              </a:spcAft>
              <a:buChar char="•"/>
            </a:pPr>
            <a:r>
              <a:rPr sz="1200" b="0" dirty="0">
                <a:solidFill>
                  <a:srgbClr val="1C2833"/>
                </a:solidFill>
                <a:latin typeface="Calibri"/>
              </a:rPr>
              <a:t>An empty purchase order under 5,000 goes forward. The result word is PROCESS.</a:t>
            </a:r>
          </a:p>
          <a:p>
            <a:pPr marL="201168" indent="-146304" algn="l">
              <a:spcBef>
                <a:spcPts val="0"/>
              </a:spcBef>
              <a:spcAft>
                <a:spcPts val="300"/>
              </a:spcAft>
              <a:buChar char="•"/>
            </a:pPr>
            <a:r>
              <a:rPr sz="1200" b="0" dirty="0">
                <a:solidFill>
                  <a:srgbClr val="1C2833"/>
                </a:solidFill>
                <a:latin typeface="Calibri"/>
              </a:rPr>
              <a:t>A recent bank change goes to review only when the amount is over 10,000.</a:t>
            </a:r>
          </a:p>
          <a:p>
            <a:pPr algn="l">
              <a:spcBef>
                <a:spcPts val="200"/>
              </a:spcBef>
              <a:spcAft>
                <a:spcPts val="300"/>
              </a:spcAft>
            </a:pPr>
            <a:r>
              <a:rPr sz="1200" b="1" dirty="0">
                <a:solidFill>
                  <a:srgbClr val="143242"/>
                </a:solidFill>
                <a:latin typeface="Calibri"/>
              </a:rPr>
              <a:t>B. Limitations and flaws</a:t>
            </a:r>
          </a:p>
          <a:p>
            <a:pPr marL="201168" indent="-146304" algn="l">
              <a:spcBef>
                <a:spcPts val="0"/>
              </a:spcBef>
              <a:spcAft>
                <a:spcPts val="300"/>
              </a:spcAft>
              <a:buChar char="•"/>
            </a:pPr>
            <a:r>
              <a:rPr sz="1200" b="0" dirty="0">
                <a:solidFill>
                  <a:srgbClr val="1C2833"/>
                </a:solidFill>
                <a:latin typeface="Calibri"/>
              </a:rPr>
              <a:t>INV-1001 and INV-1002 are both paid at 9,800 USD. The check stored NO_DUPLICATE.</a:t>
            </a:r>
          </a:p>
          <a:p>
            <a:pPr marL="201168" indent="-146304" algn="l">
              <a:spcBef>
                <a:spcPts val="0"/>
              </a:spcBef>
              <a:spcAft>
                <a:spcPts val="300"/>
              </a:spcAft>
              <a:buChar char="•"/>
            </a:pPr>
            <a:r>
              <a:rPr sz="1200" b="0" dirty="0">
                <a:solidFill>
                  <a:srgbClr val="1C2833"/>
                </a:solidFill>
                <a:latin typeface="Calibri"/>
              </a:rPr>
              <a:t>INV-1003 and INV-1004 are 4,950 + 4,950 = 9,900. Both took PROCESS. CH-88 is user U22 on both sides. The audit line does not link that change.</a:t>
            </a:r>
          </a:p>
          <a:p>
            <a:pPr marL="201168" indent="-146304" algn="l">
              <a:spcBef>
                <a:spcPts val="0"/>
              </a:spcBef>
              <a:spcAft>
                <a:spcPts val="300"/>
              </a:spcAft>
              <a:buChar char="•"/>
            </a:pPr>
            <a:r>
              <a:rPr sz="1200" b="0" dirty="0">
                <a:solidFill>
                  <a:srgbClr val="1C2833"/>
                </a:solidFill>
                <a:latin typeface="Calibri"/>
              </a:rPr>
              <a:t>P2P-05 is Missing. Owner TBD. No payment retry key. If the scorer is down, the path is Unknown.</a:t>
            </a:r>
          </a:p>
          <a:p>
            <a:pPr marL="201168" indent="-146304" algn="l">
              <a:spcBef>
                <a:spcPts val="0"/>
              </a:spcBef>
              <a:spcAft>
                <a:spcPts val="300"/>
              </a:spcAft>
              <a:buChar char="•"/>
            </a:pPr>
            <a:r>
              <a:rPr sz="1200" b="0" dirty="0">
                <a:solidFill>
                  <a:srgbClr val="1C2833"/>
                </a:solidFill>
                <a:latin typeface="Calibri"/>
              </a:rPr>
              <a:t>p2p-risk-2 flags 0.24 of good invoices. p2p-risk-1 flags 0.18. Precision and recall on p2p-risk-2 are blank.</a:t>
            </a:r>
          </a:p>
        </p:txBody>
      </p:sp>
      <p:sp>
        <p:nvSpPr>
          <p:cNvPr id="9" name="Rounded Rectangle 8"/>
          <p:cNvSpPr/>
          <p:nvPr/>
        </p:nvSpPr>
        <p:spPr>
          <a:xfrm>
            <a:off x="6199632" y="1170432"/>
            <a:ext cx="5623560" cy="5230368"/>
          </a:xfrm>
          <a:prstGeom prst="round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45936" y="1243584"/>
            <a:ext cx="5321808" cy="530352"/>
          </a:xfrm>
          <a:prstGeom prst="rect">
            <a:avLst/>
          </a:prstGeom>
          <a:noFill/>
        </p:spPr>
        <p:txBody>
          <a:bodyPr wrap="square"/>
          <a:lstStyle/>
          <a:p>
            <a:r>
              <a:rPr sz="1400" b="1">
                <a:solidFill>
                  <a:srgbClr val="143242"/>
                </a:solidFill>
                <a:latin typeface="Calibri"/>
              </a:rPr>
              <a:t>D4 app  ·  running demo</a:t>
            </a:r>
          </a:p>
        </p:txBody>
      </p:sp>
      <p:sp>
        <p:nvSpPr>
          <p:cNvPr id="11" name="TextBox 10"/>
          <p:cNvSpPr txBox="1"/>
          <p:nvPr/>
        </p:nvSpPr>
        <p:spPr>
          <a:xfrm>
            <a:off x="6327648" y="1792224"/>
            <a:ext cx="5358384" cy="4480560"/>
          </a:xfrm>
          <a:prstGeom prst="rect">
            <a:avLst/>
          </a:prstGeom>
          <a:noFill/>
        </p:spPr>
        <p:txBody>
          <a:bodyPr wrap="square"/>
          <a:lstStyle/>
          <a:p>
            <a:pPr algn="l">
              <a:spcBef>
                <a:spcPts val="200"/>
              </a:spcBef>
              <a:spcAft>
                <a:spcPts val="300"/>
              </a:spcAft>
            </a:pPr>
            <a:r>
              <a:rPr sz="1200" b="1">
                <a:solidFill>
                  <a:srgbClr val="143242"/>
                </a:solidFill>
                <a:latin typeface="Calibri"/>
              </a:rPr>
              <a:t>A. Features</a:t>
            </a:r>
          </a:p>
          <a:p>
            <a:pPr marL="201168" indent="-146304" algn="l">
              <a:spcBef>
                <a:spcPts val="0"/>
              </a:spcBef>
              <a:spcAft>
                <a:spcPts val="300"/>
              </a:spcAft>
              <a:buChar char="•"/>
            </a:pPr>
            <a:r>
              <a:rPr sz="1200" b="0">
                <a:solidFill>
                  <a:srgbClr val="1C2833"/>
                </a:solidFill>
                <a:latin typeface="Calibri"/>
              </a:rPr>
              <a:t>Screens from Ingest through Pay, plus Case History. Built from the Repo 2.0 design.</a:t>
            </a:r>
          </a:p>
          <a:p>
            <a:pPr marL="201168" indent="-146304" algn="l">
              <a:spcBef>
                <a:spcPts val="0"/>
              </a:spcBef>
              <a:spcAft>
                <a:spcPts val="300"/>
              </a:spcAft>
              <a:buChar char="•"/>
            </a:pPr>
            <a:r>
              <a:rPr sz="1200" b="0">
                <a:solidFill>
                  <a:srgbClr val="1C2833"/>
                </a:solidFill>
                <a:latin typeface="Calibri"/>
              </a:rPr>
              <a:t>Outcomes are APPROVE, REVIEW, and REJECT. A named person can disagree. A named person pays.</a:t>
            </a:r>
          </a:p>
          <a:p>
            <a:pPr marL="201168" indent="-146304" algn="l">
              <a:spcBef>
                <a:spcPts val="0"/>
              </a:spcBef>
              <a:spcAft>
                <a:spcPts val="300"/>
              </a:spcAft>
              <a:buChar char="•"/>
            </a:pPr>
            <a:r>
              <a:rPr sz="1200" b="0">
                <a:solidFill>
                  <a:srgbClr val="1C2833"/>
                </a:solidFill>
                <a:latin typeface="Calibri"/>
              </a:rPr>
              <a:t>INV-1002 goes to REVIEW on supplier, purchase order, and amount. V201 joins to V-201.</a:t>
            </a:r>
          </a:p>
          <a:p>
            <a:pPr marL="201168" indent="-146304" algn="l">
              <a:spcBef>
                <a:spcPts val="0"/>
              </a:spcBef>
              <a:spcAft>
                <a:spcPts val="300"/>
              </a:spcAft>
              <a:buChar char="•"/>
            </a:pPr>
            <a:r>
              <a:rPr sz="1200" b="0">
                <a:solidFill>
                  <a:srgbClr val="1C2833"/>
                </a:solidFill>
                <a:latin typeface="Calibri"/>
              </a:rPr>
              <a:t>CH-88 and the 4,950 pair go to REVIEW. A second Pay click stays at count 1. Scorer down leaves the rank empty.</a:t>
            </a:r>
          </a:p>
          <a:p>
            <a:pPr algn="l">
              <a:spcBef>
                <a:spcPts val="200"/>
              </a:spcBef>
              <a:spcAft>
                <a:spcPts val="300"/>
              </a:spcAft>
            </a:pPr>
            <a:r>
              <a:rPr sz="1200" b="1">
                <a:solidFill>
                  <a:srgbClr val="143242"/>
                </a:solidFill>
                <a:latin typeface="Calibri"/>
              </a:rPr>
              <a:t>B. Limitations and flaws</a:t>
            </a:r>
          </a:p>
          <a:p>
            <a:pPr marL="201168" indent="-146304" algn="l">
              <a:spcBef>
                <a:spcPts val="0"/>
              </a:spcBef>
              <a:spcAft>
                <a:spcPts val="300"/>
              </a:spcAft>
              <a:buChar char="•"/>
            </a:pPr>
            <a:r>
              <a:rPr sz="1200" b="0">
                <a:solidFill>
                  <a:srgbClr val="1C2833"/>
                </a:solidFill>
                <a:latin typeface="Calibri"/>
              </a:rPr>
              <a:t>Click evidence is the local browser app. The hosted page stopped at Google sign-in.</a:t>
            </a:r>
          </a:p>
          <a:p>
            <a:pPr marL="201168" indent="-146304" algn="l">
              <a:spcBef>
                <a:spcPts val="0"/>
              </a:spcBef>
              <a:spcAft>
                <a:spcPts val="300"/>
              </a:spcAft>
              <a:buChar char="•"/>
            </a:pPr>
            <a:r>
              <a:rPr sz="1200" b="0">
                <a:solidFill>
                  <a:srgbClr val="1C2833"/>
                </a:solidFill>
                <a:latin typeface="Calibri"/>
              </a:rPr>
              <a:t>P2P-05 owner is still TBD. New amount lines are still unset. The goods-receipt file is still Missing.</a:t>
            </a:r>
          </a:p>
          <a:p>
            <a:pPr marL="201168" indent="-146304" algn="l">
              <a:spcBef>
                <a:spcPts val="0"/>
              </a:spcBef>
              <a:spcAft>
                <a:spcPts val="300"/>
              </a:spcAft>
              <a:buChar char="•"/>
            </a:pPr>
            <a:r>
              <a:rPr sz="1200" b="0">
                <a:solidFill>
                  <a:srgbClr val="1C2833"/>
                </a:solidFill>
                <a:latin typeface="Calibri"/>
              </a:rPr>
              <a:t>Precision and recall on p2p-risk-2 are still blank. PR-AUC is Missing.</a:t>
            </a:r>
          </a:p>
          <a:p>
            <a:pPr marL="201168" indent="-146304" algn="l">
              <a:spcBef>
                <a:spcPts val="0"/>
              </a:spcBef>
              <a:spcAft>
                <a:spcPts val="300"/>
              </a:spcAft>
              <a:buChar char="•"/>
            </a:pPr>
            <a:r>
              <a:rPr sz="1200" b="0">
                <a:solidFill>
                  <a:srgbClr val="1C2833"/>
                </a:solidFill>
                <a:latin typeface="Calibri"/>
              </a:rPr>
              <a:t>The contest click, a second write of the same audit id, and the naive retry counts were not measured.</a:t>
            </a:r>
          </a:p>
        </p:txBody>
      </p:sp>
      <p:sp>
        <p:nvSpPr>
          <p:cNvPr id="12" name="TextBox 11"/>
          <p:cNvSpPr txBox="1"/>
          <p:nvPr/>
        </p:nvSpPr>
        <p:spPr>
          <a:xfrm>
            <a:off x="411480" y="6528816"/>
            <a:ext cx="8412480" cy="237744"/>
          </a:xfrm>
          <a:prstGeom prst="rect">
            <a:avLst/>
          </a:prstGeom>
          <a:noFill/>
        </p:spPr>
        <p:txBody>
          <a:bodyPr wrap="square"/>
          <a:lstStyle/>
          <a:p>
            <a:r>
              <a:rPr sz="1100" b="0">
                <a:solidFill>
                  <a:srgbClr val="4E5D67"/>
                </a:solidFill>
                <a:latin typeface="Calibri"/>
              </a:rPr>
              <a:t>Use case 5  ·  Procure-to-Pay payment control</a:t>
            </a:r>
          </a:p>
        </p:txBody>
      </p:sp>
      <p:sp>
        <p:nvSpPr>
          <p:cNvPr id="13" name="TextBox 12"/>
          <p:cNvSpPr txBox="1"/>
          <p:nvPr/>
        </p:nvSpPr>
        <p:spPr>
          <a:xfrm>
            <a:off x="9418320" y="6528816"/>
            <a:ext cx="2286000" cy="237744"/>
          </a:xfrm>
          <a:prstGeom prst="rect">
            <a:avLst/>
          </a:prstGeom>
          <a:noFill/>
        </p:spPr>
        <p:txBody>
          <a:bodyPr wrap="square"/>
          <a:lstStyle/>
          <a:p>
            <a:pPr algn="r"/>
            <a:r>
              <a:rPr sz="1100" b="0">
                <a:solidFill>
                  <a:srgbClr val="4E5D67"/>
                </a:solidFill>
                <a:latin typeface="Calibri"/>
              </a:rPr>
              <a:t>8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28016"/>
            <a:ext cx="11338560" cy="201168"/>
          </a:xfrm>
          <a:prstGeom prst="rect">
            <a:avLst/>
          </a:prstGeom>
          <a:noFill/>
        </p:spPr>
        <p:txBody>
          <a:bodyPr wrap="square"/>
          <a:lstStyle/>
          <a:p>
            <a:r>
              <a:rPr sz="1200" b="1">
                <a:solidFill>
                  <a:srgbClr val="0E6B66"/>
                </a:solidFill>
                <a:latin typeface="Calibri"/>
              </a:rPr>
              <a:t>APPENDIX</a:t>
            </a:r>
          </a:p>
        </p:txBody>
      </p:sp>
      <p:sp>
        <p:nvSpPr>
          <p:cNvPr id="4" name="TextBox 3"/>
          <p:cNvSpPr txBox="1"/>
          <p:nvPr/>
        </p:nvSpPr>
        <p:spPr>
          <a:xfrm>
            <a:off x="411480" y="292608"/>
            <a:ext cx="11338560" cy="365760"/>
          </a:xfrm>
          <a:prstGeom prst="rect">
            <a:avLst/>
          </a:prstGeom>
          <a:noFill/>
        </p:spPr>
        <p:txBody>
          <a:bodyPr wrap="square"/>
          <a:lstStyle/>
          <a:p>
            <a:r>
              <a:rPr sz="2400" b="1">
                <a:solidFill>
                  <a:srgbClr val="143242"/>
                </a:solidFill>
                <a:latin typeface="Calibri"/>
              </a:rPr>
              <a:t>How the D4 app answers the four Repo 1.0 flaws</a:t>
            </a:r>
          </a:p>
        </p:txBody>
      </p:sp>
      <p:sp>
        <p:nvSpPr>
          <p:cNvPr id="5" name="Rounded Rectangle 4"/>
          <p:cNvSpPr/>
          <p:nvPr/>
        </p:nvSpPr>
        <p:spPr>
          <a:xfrm>
            <a:off x="365760" y="768096"/>
            <a:ext cx="11448288" cy="1280160"/>
          </a:xfrm>
          <a:prstGeom prst="round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822960"/>
            <a:ext cx="11109960" cy="1207008"/>
          </a:xfrm>
          <a:prstGeom prst="rect">
            <a:avLst/>
          </a:prstGeom>
          <a:noFill/>
        </p:spPr>
        <p:txBody>
          <a:bodyPr wrap="square"/>
          <a:lstStyle/>
          <a:p>
            <a:r>
              <a:rPr sz="1300" b="1">
                <a:solidFill>
                  <a:srgbClr val="0E6B66"/>
                </a:solidFill>
                <a:latin typeface="Calibri"/>
              </a:rPr>
              <a:t>Flaw 1.  </a:t>
            </a:r>
            <a:r>
              <a:rPr sz="1300" b="0">
                <a:solidFill>
                  <a:srgbClr val="1C2833"/>
                </a:solidFill>
                <a:latin typeface="Calibri"/>
              </a:rPr>
              <a:t>Both 9,800 USD invoices were paid. The check stored NO_DUPLICATE.</a:t>
            </a:r>
          </a:p>
          <a:p>
            <a:pPr>
              <a:spcBef>
                <a:spcPts val="400"/>
              </a:spcBef>
            </a:pPr>
            <a:r>
              <a:rPr sz="1400" b="1">
                <a:solidFill>
                  <a:srgbClr val="143242"/>
                </a:solidFill>
                <a:latin typeface="Calibri"/>
              </a:rPr>
              <a:t>D4.  </a:t>
            </a:r>
            <a:r>
              <a:rPr sz="1400" b="0">
                <a:solidFill>
                  <a:srgbClr val="1C2833"/>
                </a:solidFill>
                <a:latin typeface="Calibri"/>
              </a:rPr>
              <a:t>INV-1002 goes to REVIEW. The match is supplier V-201, purchase order PO-7001, and 9,800 USD. Payment count stays 0.</a:t>
            </a:r>
          </a:p>
        </p:txBody>
      </p:sp>
      <p:sp>
        <p:nvSpPr>
          <p:cNvPr id="7" name="Rounded Rectangle 6"/>
          <p:cNvSpPr/>
          <p:nvPr/>
        </p:nvSpPr>
        <p:spPr>
          <a:xfrm>
            <a:off x="365760" y="2121408"/>
            <a:ext cx="11448288" cy="1280160"/>
          </a:xfrm>
          <a:prstGeom prst="round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2176272"/>
            <a:ext cx="11109960" cy="1207008"/>
          </a:xfrm>
          <a:prstGeom prst="rect">
            <a:avLst/>
          </a:prstGeom>
          <a:noFill/>
        </p:spPr>
        <p:txBody>
          <a:bodyPr wrap="square"/>
          <a:lstStyle/>
          <a:p>
            <a:r>
              <a:rPr sz="1300" b="1">
                <a:solidFill>
                  <a:srgbClr val="0E6B66"/>
                </a:solidFill>
                <a:latin typeface="Calibri"/>
              </a:rPr>
              <a:t>Flaw 2.  </a:t>
            </a:r>
            <a:r>
              <a:rPr sz="1300" b="0">
                <a:solidFill>
                  <a:srgbClr val="1C2833"/>
                </a:solidFill>
                <a:latin typeface="Calibri"/>
              </a:rPr>
              <a:t>The 4,950 pair took PROCESS. CH-88 is user U22 on both sides. The audit line does not link that change.</a:t>
            </a:r>
          </a:p>
          <a:p>
            <a:pPr>
              <a:spcBef>
                <a:spcPts val="400"/>
              </a:spcBef>
            </a:pPr>
            <a:r>
              <a:rPr sz="1400" b="1">
                <a:solidFill>
                  <a:srgbClr val="143242"/>
                </a:solidFill>
                <a:latin typeface="Calibri"/>
              </a:rPr>
              <a:t>D4.  </a:t>
            </a:r>
            <a:r>
              <a:rPr sz="1400" b="0">
                <a:solidFill>
                  <a:srgbClr val="1C2833"/>
                </a:solidFill>
                <a:latin typeface="Calibri"/>
              </a:rPr>
              <a:t>Both invoices stay REVIEW. The screen names CH-88, same user U22, the empty purchase order, and the pair sum 9,900. The audit row stores BANK_CHANGE_LINKED.</a:t>
            </a:r>
          </a:p>
        </p:txBody>
      </p:sp>
      <p:sp>
        <p:nvSpPr>
          <p:cNvPr id="9" name="Rounded Rectangle 8"/>
          <p:cNvSpPr/>
          <p:nvPr/>
        </p:nvSpPr>
        <p:spPr>
          <a:xfrm>
            <a:off x="365760" y="3474720"/>
            <a:ext cx="11448288" cy="1280160"/>
          </a:xfrm>
          <a:prstGeom prst="round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3529584"/>
            <a:ext cx="11109960" cy="1207008"/>
          </a:xfrm>
          <a:prstGeom prst="rect">
            <a:avLst/>
          </a:prstGeom>
          <a:noFill/>
        </p:spPr>
        <p:txBody>
          <a:bodyPr wrap="square"/>
          <a:lstStyle/>
          <a:p>
            <a:r>
              <a:rPr sz="1300" b="1">
                <a:solidFill>
                  <a:srgbClr val="0E6B66"/>
                </a:solidFill>
                <a:latin typeface="Calibri"/>
              </a:rPr>
              <a:t>Flaw 3.  </a:t>
            </a:r>
            <a:r>
              <a:rPr sz="1300" b="0">
                <a:solidFill>
                  <a:srgbClr val="1C2833"/>
                </a:solidFill>
                <a:latin typeface="Calibri"/>
              </a:rPr>
              <a:t>P2P-05 is Missing. There is no payment retry key. If the scorer is down, the path is Unknown.</a:t>
            </a:r>
          </a:p>
          <a:p>
            <a:pPr>
              <a:spcBef>
                <a:spcPts val="400"/>
              </a:spcBef>
            </a:pPr>
            <a:r>
              <a:rPr sz="1400" b="1">
                <a:solidFill>
                  <a:srgbClr val="143242"/>
                </a:solidFill>
                <a:latin typeface="Calibri"/>
              </a:rPr>
              <a:t>D4.  </a:t>
            </a:r>
            <a:r>
              <a:rPr sz="1400" b="0">
                <a:solidFill>
                  <a:srgbClr val="1C2833"/>
                </a:solidFill>
                <a:latin typeface="Calibri"/>
              </a:rPr>
              <a:t>Pay uses a key. A second click on INV-1005 stays at count 1. Scorer down sets REVIEW and leaves the rank empty. The P2P-05 owner is still TBD.</a:t>
            </a:r>
          </a:p>
        </p:txBody>
      </p:sp>
      <p:sp>
        <p:nvSpPr>
          <p:cNvPr id="11" name="Rounded Rectangle 10"/>
          <p:cNvSpPr/>
          <p:nvPr/>
        </p:nvSpPr>
        <p:spPr>
          <a:xfrm>
            <a:off x="365760" y="4828031"/>
            <a:ext cx="11448288" cy="1280160"/>
          </a:xfrm>
          <a:prstGeom prst="round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882895"/>
            <a:ext cx="11109960" cy="1207008"/>
          </a:xfrm>
          <a:prstGeom prst="rect">
            <a:avLst/>
          </a:prstGeom>
          <a:noFill/>
        </p:spPr>
        <p:txBody>
          <a:bodyPr wrap="square"/>
          <a:lstStyle/>
          <a:p>
            <a:r>
              <a:rPr sz="1300" b="1" dirty="0">
                <a:solidFill>
                  <a:srgbClr val="0E6B66"/>
                </a:solidFill>
                <a:latin typeface="Calibri"/>
              </a:rPr>
              <a:t>Flaw 4.  </a:t>
            </a:r>
            <a:r>
              <a:rPr sz="1300" b="0" dirty="0">
                <a:solidFill>
                  <a:srgbClr val="1C2833"/>
                </a:solidFill>
                <a:latin typeface="Calibri"/>
              </a:rPr>
              <a:t>p2p-risk-2 flags 0.24 of good invoices. p2p-risk-1 flags 0.18. Precision and recall on p2p-risk-2 are blank.</a:t>
            </a:r>
          </a:p>
          <a:p>
            <a:pPr>
              <a:spcBef>
                <a:spcPts val="400"/>
              </a:spcBef>
            </a:pPr>
            <a:r>
              <a:rPr sz="1400" b="1" dirty="0">
                <a:solidFill>
                  <a:srgbClr val="143242"/>
                </a:solidFill>
                <a:latin typeface="Calibri"/>
              </a:rPr>
              <a:t>D4.  </a:t>
            </a:r>
            <a:r>
              <a:rPr sz="1400" b="0" dirty="0">
                <a:solidFill>
                  <a:srgbClr val="1C2833"/>
                </a:solidFill>
                <a:latin typeface="Calibri"/>
              </a:rPr>
              <a:t>The metrics page shows those rates. The rank orders the case. A named person pays. Precision and recall on p2p-risk-2 stay blank.</a:t>
            </a:r>
          </a:p>
        </p:txBody>
      </p:sp>
      <p:sp>
        <p:nvSpPr>
          <p:cNvPr id="13" name="TextBox 12"/>
          <p:cNvSpPr txBox="1"/>
          <p:nvPr/>
        </p:nvSpPr>
        <p:spPr>
          <a:xfrm>
            <a:off x="411480" y="6528816"/>
            <a:ext cx="8412480" cy="237744"/>
          </a:xfrm>
          <a:prstGeom prst="rect">
            <a:avLst/>
          </a:prstGeom>
          <a:noFill/>
        </p:spPr>
        <p:txBody>
          <a:bodyPr wrap="square"/>
          <a:lstStyle/>
          <a:p>
            <a:r>
              <a:rPr sz="1100" b="0">
                <a:solidFill>
                  <a:srgbClr val="4E5D67"/>
                </a:solidFill>
                <a:latin typeface="Calibri"/>
              </a:rPr>
              <a:t>Use case 5  ·  Procure-to-Pay payment control</a:t>
            </a:r>
          </a:p>
        </p:txBody>
      </p:sp>
      <p:sp>
        <p:nvSpPr>
          <p:cNvPr id="14" name="TextBox 13"/>
          <p:cNvSpPr txBox="1"/>
          <p:nvPr/>
        </p:nvSpPr>
        <p:spPr>
          <a:xfrm>
            <a:off x="9418320" y="6528816"/>
            <a:ext cx="2286000" cy="237744"/>
          </a:xfrm>
          <a:prstGeom prst="rect">
            <a:avLst/>
          </a:prstGeom>
          <a:noFill/>
        </p:spPr>
        <p:txBody>
          <a:bodyPr wrap="square"/>
          <a:lstStyle/>
          <a:p>
            <a:pPr algn="r"/>
            <a:r>
              <a:rPr sz="1100" b="0">
                <a:solidFill>
                  <a:srgbClr val="4E5D67"/>
                </a:solidFill>
                <a:latin typeface="Calibri"/>
              </a:rPr>
              <a:t>9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11155680" cy="237744"/>
          </a:xfrm>
          <a:prstGeom prst="rect">
            <a:avLst/>
          </a:prstGeom>
          <a:noFill/>
        </p:spPr>
        <p:txBody>
          <a:bodyPr wrap="square"/>
          <a:lstStyle/>
          <a:p>
            <a:r>
              <a:rPr sz="1200" b="1">
                <a:solidFill>
                  <a:srgbClr val="0E6B66"/>
                </a:solidFill>
                <a:latin typeface="Calibri"/>
              </a:rPr>
              <a:t>APPENDIX  ·  GLOSSARY 1 OF 2</a:t>
            </a:r>
          </a:p>
        </p:txBody>
      </p:sp>
      <p:sp>
        <p:nvSpPr>
          <p:cNvPr id="4" name="TextBox 3"/>
          <p:cNvSpPr txBox="1"/>
          <p:nvPr/>
        </p:nvSpPr>
        <p:spPr>
          <a:xfrm>
            <a:off x="502920" y="365760"/>
            <a:ext cx="11155680" cy="420624"/>
          </a:xfrm>
          <a:prstGeom prst="rect">
            <a:avLst/>
          </a:prstGeom>
          <a:noFill/>
        </p:spPr>
        <p:txBody>
          <a:bodyPr wrap="square"/>
          <a:lstStyle/>
          <a:p>
            <a:r>
              <a:rPr sz="2600" b="1">
                <a:solidFill>
                  <a:srgbClr val="143242"/>
                </a:solidFill>
                <a:latin typeface="Calibri"/>
              </a:rPr>
              <a:t>Codes on the cases and the controls</a:t>
            </a:r>
          </a:p>
        </p:txBody>
      </p:sp>
      <p:sp>
        <p:nvSpPr>
          <p:cNvPr id="5" name="Rectangle 4"/>
          <p:cNvSpPr/>
          <p:nvPr/>
        </p:nvSpPr>
        <p:spPr>
          <a:xfrm>
            <a:off x="502920" y="84124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10  /  11</a:t>
            </a:r>
          </a:p>
        </p:txBody>
      </p:sp>
      <p:graphicFrame>
        <p:nvGraphicFramePr>
          <p:cNvPr id="8" name="Table 7"/>
          <p:cNvGraphicFramePr>
            <a:graphicFrameLocks noGrp="1"/>
          </p:cNvGraphicFramePr>
          <p:nvPr/>
        </p:nvGraphicFramePr>
        <p:xfrm>
          <a:off x="502920" y="987552"/>
          <a:ext cx="11155680" cy="3950208"/>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9189720">
                  <a:extLst>
                    <a:ext uri="{9D8B030D-6E8A-4147-A177-3AD203B41FA5}">
                      <a16:colId xmlns:a16="http://schemas.microsoft.com/office/drawing/2014/main" val="20001"/>
                    </a:ext>
                  </a:extLst>
                </a:gridCol>
              </a:tblGrid>
              <a:tr h="329184">
                <a:tc>
                  <a:txBody>
                    <a:bodyPr/>
                    <a:lstStyle/>
                    <a:p>
                      <a:pPr algn="l"/>
                      <a:r>
                        <a:rPr sz="1200" b="1">
                          <a:solidFill>
                            <a:srgbClr val="FFFFFF"/>
                          </a:solidFill>
                          <a:latin typeface="Calibri"/>
                        </a:rPr>
                        <a:t>Code</a:t>
                      </a:r>
                    </a:p>
                  </a:txBody>
                  <a:tcPr marL="73152" marR="54864" marT="27432" marB="27432" anchor="ctr">
                    <a:solidFill>
                      <a:srgbClr val="143242"/>
                    </a:solidFill>
                  </a:tcPr>
                </a:tc>
                <a:tc>
                  <a:txBody>
                    <a:bodyPr/>
                    <a:lstStyle/>
                    <a:p>
                      <a:pPr algn="l"/>
                      <a:r>
                        <a:rPr sz="1200" b="1">
                          <a:solidFill>
                            <a:srgbClr val="FFFFFF"/>
                          </a:solidFill>
                          <a:latin typeface="Calibri"/>
                        </a:rPr>
                        <a:t>What it means in this project</a:t>
                      </a:r>
                    </a:p>
                  </a:txBody>
                  <a:tcPr marL="73152" marR="54864" marT="27432" marB="27432" anchor="ctr">
                    <a:solidFill>
                      <a:srgbClr val="143242"/>
                    </a:solidFill>
                  </a:tcPr>
                </a:tc>
                <a:extLst>
                  <a:ext uri="{0D108BD9-81ED-4DB2-BD59-A6C34878D82A}">
                    <a16:rowId xmlns:a16="http://schemas.microsoft.com/office/drawing/2014/main" val="10000"/>
                  </a:ext>
                </a:extLst>
              </a:tr>
              <a:tr h="329184">
                <a:tc>
                  <a:txBody>
                    <a:bodyPr/>
                    <a:lstStyle/>
                    <a:p>
                      <a:pPr algn="l"/>
                      <a:r>
                        <a:rPr sz="1200" b="1">
                          <a:solidFill>
                            <a:srgbClr val="1C2833"/>
                          </a:solidFill>
                          <a:latin typeface="Calibri"/>
                        </a:rPr>
                        <a:t>CH</a:t>
                      </a:r>
                    </a:p>
                  </a:txBody>
                  <a:tcPr marL="73152" marR="54864" marT="27432" marB="27432" anchor="ctr">
                    <a:solidFill>
                      <a:srgbClr val="FFFFFF"/>
                    </a:solidFill>
                  </a:tcPr>
                </a:tc>
                <a:tc>
                  <a:txBody>
                    <a:bodyPr/>
                    <a:lstStyle/>
                    <a:p>
                      <a:pPr algn="l"/>
                      <a:r>
                        <a:rPr sz="1200" b="0">
                          <a:solidFill>
                            <a:srgbClr val="1C2833"/>
                          </a:solidFill>
                          <a:latin typeface="Calibri"/>
                        </a:rPr>
                        <a:t>Supplier-master change id. CH-88 is the bank change. CH-89 is the email change.</a:t>
                      </a:r>
                    </a:p>
                  </a:txBody>
                  <a:tcPr marL="73152"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200" b="1">
                          <a:solidFill>
                            <a:srgbClr val="1C2833"/>
                          </a:solidFill>
                          <a:latin typeface="Calibri"/>
                        </a:rPr>
                        <a:t>U</a:t>
                      </a:r>
                    </a:p>
                  </a:txBody>
                  <a:tcPr marL="73152" marR="54864" marT="27432" marB="27432" anchor="ctr">
                    <a:solidFill>
                      <a:srgbClr val="F4F7F8"/>
                    </a:solidFill>
                  </a:tcPr>
                </a:tc>
                <a:tc>
                  <a:txBody>
                    <a:bodyPr/>
                    <a:lstStyle/>
                    <a:p>
                      <a:pPr algn="l"/>
                      <a:r>
                        <a:rPr sz="1200" b="0">
                          <a:solidFill>
                            <a:srgbClr val="1C2833"/>
                          </a:solidFill>
                          <a:latin typeface="Calibri"/>
                        </a:rPr>
                        <a:t>User id. U22 requested and approved CH-88. U11 is on the two paid invoices.</a:t>
                      </a:r>
                    </a:p>
                  </a:txBody>
                  <a:tcPr marL="73152" marR="54864" marT="27432" marB="27432" anchor="ctr">
                    <a:solidFill>
                      <a:srgbClr val="F4F7F8"/>
                    </a:solidFill>
                  </a:tcPr>
                </a:tc>
                <a:extLst>
                  <a:ext uri="{0D108BD9-81ED-4DB2-BD59-A6C34878D82A}">
                    <a16:rowId xmlns:a16="http://schemas.microsoft.com/office/drawing/2014/main" val="10002"/>
                  </a:ext>
                </a:extLst>
              </a:tr>
              <a:tr h="329184">
                <a:tc>
                  <a:txBody>
                    <a:bodyPr/>
                    <a:lstStyle/>
                    <a:p>
                      <a:pPr algn="l"/>
                      <a:r>
                        <a:rPr sz="1200" b="1">
                          <a:solidFill>
                            <a:srgbClr val="1C2833"/>
                          </a:solidFill>
                          <a:latin typeface="Calibri"/>
                        </a:rPr>
                        <a:t>INV</a:t>
                      </a:r>
                    </a:p>
                  </a:txBody>
                  <a:tcPr marL="73152" marR="54864" marT="27432" marB="27432" anchor="ctr">
                    <a:solidFill>
                      <a:srgbClr val="FFFFFF"/>
                    </a:solidFill>
                  </a:tcPr>
                </a:tc>
                <a:tc>
                  <a:txBody>
                    <a:bodyPr/>
                    <a:lstStyle/>
                    <a:p>
                      <a:pPr algn="l"/>
                      <a:r>
                        <a:rPr sz="1200" b="0">
                          <a:solidFill>
                            <a:srgbClr val="1C2833"/>
                          </a:solidFill>
                          <a:latin typeface="Calibri"/>
                        </a:rPr>
                        <a:t>Invoice id. INV-1001 and INV-1002 are 9,800 USD. INV-1003 and INV-1004 are 4,950 USD.</a:t>
                      </a:r>
                    </a:p>
                  </a:txBody>
                  <a:tcPr marL="73152" marR="54864"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200" b="1">
                          <a:solidFill>
                            <a:srgbClr val="1C2833"/>
                          </a:solidFill>
                          <a:latin typeface="Calibri"/>
                        </a:rPr>
                        <a:t>V</a:t>
                      </a:r>
                    </a:p>
                  </a:txBody>
                  <a:tcPr marL="73152" marR="54864" marT="27432" marB="27432" anchor="ctr">
                    <a:solidFill>
                      <a:srgbClr val="F4F7F8"/>
                    </a:solidFill>
                  </a:tcPr>
                </a:tc>
                <a:tc>
                  <a:txBody>
                    <a:bodyPr/>
                    <a:lstStyle/>
                    <a:p>
                      <a:pPr algn="l"/>
                      <a:r>
                        <a:rPr sz="1200" b="0">
                          <a:solidFill>
                            <a:srgbClr val="1C2833"/>
                          </a:solidFill>
                          <a:latin typeface="Calibri"/>
                        </a:rPr>
                        <a:t>Supplier id. V-201 and V201 are the alias pair. V-311 is the supplier on CH-88.</a:t>
                      </a:r>
                    </a:p>
                  </a:txBody>
                  <a:tcPr marL="73152" marR="54864" marT="27432" marB="27432" anchor="ctr">
                    <a:solidFill>
                      <a:srgbClr val="F4F7F8"/>
                    </a:solidFill>
                  </a:tcPr>
                </a:tc>
                <a:extLst>
                  <a:ext uri="{0D108BD9-81ED-4DB2-BD59-A6C34878D82A}">
                    <a16:rowId xmlns:a16="http://schemas.microsoft.com/office/drawing/2014/main" val="10004"/>
                  </a:ext>
                </a:extLst>
              </a:tr>
              <a:tr h="329184">
                <a:tc>
                  <a:txBody>
                    <a:bodyPr/>
                    <a:lstStyle/>
                    <a:p>
                      <a:pPr algn="l"/>
                      <a:r>
                        <a:rPr sz="1200" b="1">
                          <a:solidFill>
                            <a:srgbClr val="1C2833"/>
                          </a:solidFill>
                          <a:latin typeface="Calibri"/>
                        </a:rPr>
                        <a:t>PO</a:t>
                      </a:r>
                    </a:p>
                  </a:txBody>
                  <a:tcPr marL="73152" marR="54864" marT="27432" marB="27432" anchor="ctr">
                    <a:solidFill>
                      <a:srgbClr val="FFFFFF"/>
                    </a:solidFill>
                  </a:tcPr>
                </a:tc>
                <a:tc>
                  <a:txBody>
                    <a:bodyPr/>
                    <a:lstStyle/>
                    <a:p>
                      <a:pPr algn="l"/>
                      <a:r>
                        <a:rPr sz="1200" b="0">
                          <a:solidFill>
                            <a:srgbClr val="1C2833"/>
                          </a:solidFill>
                          <a:latin typeface="Calibri"/>
                        </a:rPr>
                        <a:t>Purchase order. The company’s buy record. Empty on INV-1003 and INV-1004.</a:t>
                      </a:r>
                    </a:p>
                  </a:txBody>
                  <a:tcPr marL="73152" marR="54864" marT="27432" marB="27432" anchor="ctr">
                    <a:solidFill>
                      <a:srgbClr val="FFFFFF"/>
                    </a:solidFill>
                  </a:tcPr>
                </a:tc>
                <a:extLst>
                  <a:ext uri="{0D108BD9-81ED-4DB2-BD59-A6C34878D82A}">
                    <a16:rowId xmlns:a16="http://schemas.microsoft.com/office/drawing/2014/main" val="10005"/>
                  </a:ext>
                </a:extLst>
              </a:tr>
              <a:tr h="329184">
                <a:tc>
                  <a:txBody>
                    <a:bodyPr/>
                    <a:lstStyle/>
                    <a:p>
                      <a:pPr algn="l"/>
                      <a:r>
                        <a:rPr sz="1200" b="1">
                          <a:solidFill>
                            <a:srgbClr val="1C2833"/>
                          </a:solidFill>
                          <a:latin typeface="Calibri"/>
                        </a:rPr>
                        <a:t>AP</a:t>
                      </a:r>
                    </a:p>
                  </a:txBody>
                  <a:tcPr marL="73152" marR="54864" marT="27432" marB="27432" anchor="ctr">
                    <a:solidFill>
                      <a:srgbClr val="F4F7F8"/>
                    </a:solidFill>
                  </a:tcPr>
                </a:tc>
                <a:tc>
                  <a:txBody>
                    <a:bodyPr/>
                    <a:lstStyle/>
                    <a:p>
                      <a:pPr algn="l"/>
                      <a:r>
                        <a:rPr sz="1200" b="0">
                          <a:solidFill>
                            <a:srgbClr val="1C2833"/>
                          </a:solidFill>
                          <a:latin typeface="Calibri"/>
                        </a:rPr>
                        <a:t>Accounts Payable. Owns the duplicate-invoice control, P2P-01.</a:t>
                      </a:r>
                    </a:p>
                  </a:txBody>
                  <a:tcPr marL="73152" marR="54864" marT="27432" marB="27432" anchor="ctr">
                    <a:solidFill>
                      <a:srgbClr val="F4F7F8"/>
                    </a:solidFill>
                  </a:tcPr>
                </a:tc>
                <a:extLst>
                  <a:ext uri="{0D108BD9-81ED-4DB2-BD59-A6C34878D82A}">
                    <a16:rowId xmlns:a16="http://schemas.microsoft.com/office/drawing/2014/main" val="10006"/>
                  </a:ext>
                </a:extLst>
              </a:tr>
              <a:tr h="329184">
                <a:tc>
                  <a:txBody>
                    <a:bodyPr/>
                    <a:lstStyle/>
                    <a:p>
                      <a:pPr algn="l"/>
                      <a:r>
                        <a:rPr sz="1200" b="1">
                          <a:solidFill>
                            <a:srgbClr val="1C2833"/>
                          </a:solidFill>
                          <a:latin typeface="Calibri"/>
                        </a:rPr>
                        <a:t>P2P</a:t>
                      </a:r>
                    </a:p>
                  </a:txBody>
                  <a:tcPr marL="73152" marR="54864" marT="27432" marB="27432" anchor="ctr">
                    <a:solidFill>
                      <a:srgbClr val="FFFFFF"/>
                    </a:solidFill>
                  </a:tcPr>
                </a:tc>
                <a:tc>
                  <a:txBody>
                    <a:bodyPr/>
                    <a:lstStyle/>
                    <a:p>
                      <a:pPr algn="l"/>
                      <a:r>
                        <a:rPr sz="1200" b="0">
                          <a:solidFill>
                            <a:srgbClr val="1C2833"/>
                          </a:solidFill>
                          <a:latin typeface="Calibri"/>
                        </a:rPr>
                        <a:t>Procure-to-Pay. The decision is whether a supplier invoice can go on to payment.</a:t>
                      </a:r>
                    </a:p>
                  </a:txBody>
                  <a:tcPr marL="73152" marR="54864" marT="27432" marB="27432" anchor="ctr">
                    <a:solidFill>
                      <a:srgbClr val="FFFFFF"/>
                    </a:solidFill>
                  </a:tcPr>
                </a:tc>
                <a:extLst>
                  <a:ext uri="{0D108BD9-81ED-4DB2-BD59-A6C34878D82A}">
                    <a16:rowId xmlns:a16="http://schemas.microsoft.com/office/drawing/2014/main" val="10007"/>
                  </a:ext>
                </a:extLst>
              </a:tr>
              <a:tr h="329184">
                <a:tc>
                  <a:txBody>
                    <a:bodyPr/>
                    <a:lstStyle/>
                    <a:p>
                      <a:pPr algn="l"/>
                      <a:r>
                        <a:rPr sz="1200" b="1">
                          <a:solidFill>
                            <a:srgbClr val="1C2833"/>
                          </a:solidFill>
                          <a:latin typeface="Calibri"/>
                        </a:rPr>
                        <a:t>P2P-01 to 05</a:t>
                      </a:r>
                    </a:p>
                  </a:txBody>
                  <a:tcPr marL="73152" marR="54864" marT="27432" marB="27432" anchor="ctr">
                    <a:solidFill>
                      <a:srgbClr val="F4F7F8"/>
                    </a:solidFill>
                  </a:tcPr>
                </a:tc>
                <a:tc>
                  <a:txBody>
                    <a:bodyPr/>
                    <a:lstStyle/>
                    <a:p>
                      <a:pPr algn="l"/>
                      <a:r>
                        <a:rPr sz="1200" b="0">
                          <a:solidFill>
                            <a:srgbClr val="1C2833"/>
                          </a:solidFill>
                          <a:latin typeface="Calibri"/>
                        </a:rPr>
                        <a:t>Five control ids. P2P-05 is the locked payment record. Status Missing. Owner TBD.</a:t>
                      </a:r>
                    </a:p>
                  </a:txBody>
                  <a:tcPr marL="73152" marR="54864" marT="27432" marB="27432" anchor="ctr">
                    <a:solidFill>
                      <a:srgbClr val="F4F7F8"/>
                    </a:solidFill>
                  </a:tcPr>
                </a:tc>
                <a:extLst>
                  <a:ext uri="{0D108BD9-81ED-4DB2-BD59-A6C34878D82A}">
                    <a16:rowId xmlns:a16="http://schemas.microsoft.com/office/drawing/2014/main" val="10008"/>
                  </a:ext>
                </a:extLst>
              </a:tr>
              <a:tr h="329184">
                <a:tc>
                  <a:txBody>
                    <a:bodyPr/>
                    <a:lstStyle/>
                    <a:p>
                      <a:pPr algn="l"/>
                      <a:r>
                        <a:rPr sz="1200" b="1">
                          <a:solidFill>
                            <a:srgbClr val="1C2833"/>
                          </a:solidFill>
                          <a:latin typeface="Calibri"/>
                        </a:rPr>
                        <a:t>P2P-FR</a:t>
                      </a:r>
                    </a:p>
                  </a:txBody>
                  <a:tcPr marL="73152" marR="54864" marT="27432" marB="27432" anchor="ctr">
                    <a:solidFill>
                      <a:srgbClr val="FFFFFF"/>
                    </a:solidFill>
                  </a:tcPr>
                </a:tc>
                <a:tc>
                  <a:txBody>
                    <a:bodyPr/>
                    <a:lstStyle/>
                    <a:p>
                      <a:pPr algn="l"/>
                      <a:r>
                        <a:rPr sz="1200" b="0">
                          <a:solidFill>
                            <a:srgbClr val="1C2833"/>
                          </a:solidFill>
                          <a:latin typeface="Calibri"/>
                        </a:rPr>
                        <a:t>A functional requirement. P2P-FR-001 names APPROVE, REVIEW, and REJECT.</a:t>
                      </a:r>
                    </a:p>
                  </a:txBody>
                  <a:tcPr marL="73152" marR="54864" marT="27432" marB="27432" anchor="ctr">
                    <a:solidFill>
                      <a:srgbClr val="FFFFFF"/>
                    </a:solidFill>
                  </a:tcPr>
                </a:tc>
                <a:extLst>
                  <a:ext uri="{0D108BD9-81ED-4DB2-BD59-A6C34878D82A}">
                    <a16:rowId xmlns:a16="http://schemas.microsoft.com/office/drawing/2014/main" val="10009"/>
                  </a:ext>
                </a:extLst>
              </a:tr>
              <a:tr h="329184">
                <a:tc>
                  <a:txBody>
                    <a:bodyPr/>
                    <a:lstStyle/>
                    <a:p>
                      <a:pPr algn="l"/>
                      <a:r>
                        <a:rPr sz="1200" b="1">
                          <a:solidFill>
                            <a:srgbClr val="1C2833"/>
                          </a:solidFill>
                          <a:latin typeface="Calibri"/>
                        </a:rPr>
                        <a:t>P2P-AC</a:t>
                      </a:r>
                    </a:p>
                  </a:txBody>
                  <a:tcPr marL="73152" marR="54864" marT="27432" marB="27432" anchor="ctr">
                    <a:solidFill>
                      <a:srgbClr val="F4F7F8"/>
                    </a:solidFill>
                  </a:tcPr>
                </a:tc>
                <a:tc>
                  <a:txBody>
                    <a:bodyPr/>
                    <a:lstStyle/>
                    <a:p>
                      <a:pPr algn="l"/>
                      <a:r>
                        <a:rPr sz="1200" b="0">
                          <a:solidFill>
                            <a:srgbClr val="1C2833"/>
                          </a:solidFill>
                          <a:latin typeface="Calibri"/>
                        </a:rPr>
                        <a:t>An acceptance case. P2P-AC-001 is the INV-1001 / INV-1002 duplicate.</a:t>
                      </a:r>
                    </a:p>
                  </a:txBody>
                  <a:tcPr marL="73152" marR="54864" marT="27432" marB="27432" anchor="ctr">
                    <a:solidFill>
                      <a:srgbClr val="F4F7F8"/>
                    </a:solidFill>
                  </a:tcPr>
                </a:tc>
                <a:extLst>
                  <a:ext uri="{0D108BD9-81ED-4DB2-BD59-A6C34878D82A}">
                    <a16:rowId xmlns:a16="http://schemas.microsoft.com/office/drawing/2014/main" val="10010"/>
                  </a:ext>
                </a:extLst>
              </a:tr>
              <a:tr h="329184">
                <a:tc>
                  <a:txBody>
                    <a:bodyPr/>
                    <a:lstStyle/>
                    <a:p>
                      <a:pPr algn="l"/>
                      <a:r>
                        <a:rPr sz="1200" b="1">
                          <a:solidFill>
                            <a:srgbClr val="1C2833"/>
                          </a:solidFill>
                          <a:latin typeface="Calibri"/>
                        </a:rPr>
                        <a:t>SoD</a:t>
                      </a:r>
                    </a:p>
                  </a:txBody>
                  <a:tcPr marL="73152" marR="54864" marT="27432" marB="27432" anchor="ctr">
                    <a:solidFill>
                      <a:srgbClr val="FFFFFF"/>
                    </a:solidFill>
                  </a:tcPr>
                </a:tc>
                <a:tc>
                  <a:txBody>
                    <a:bodyPr/>
                    <a:lstStyle/>
                    <a:p>
                      <a:pPr algn="l"/>
                      <a:r>
                        <a:rPr sz="1200" b="0">
                          <a:solidFill>
                            <a:srgbClr val="1C2833"/>
                          </a:solidFill>
                          <a:latin typeface="Calibri"/>
                        </a:rPr>
                        <a:t>Segregation of duties. The requester and the approver are different people.</a:t>
                      </a:r>
                    </a:p>
                  </a:txBody>
                  <a:tcPr marL="73152" marR="54864" marT="27432" marB="27432" anchor="ct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6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11155680" cy="237744"/>
          </a:xfrm>
          <a:prstGeom prst="rect">
            <a:avLst/>
          </a:prstGeom>
          <a:noFill/>
        </p:spPr>
        <p:txBody>
          <a:bodyPr wrap="square"/>
          <a:lstStyle/>
          <a:p>
            <a:r>
              <a:rPr sz="1200" b="1">
                <a:solidFill>
                  <a:srgbClr val="0E6B66"/>
                </a:solidFill>
                <a:latin typeface="Calibri"/>
              </a:rPr>
              <a:t>APPENDIX  ·  GLOSSARY 2 OF 2</a:t>
            </a:r>
          </a:p>
        </p:txBody>
      </p:sp>
      <p:sp>
        <p:nvSpPr>
          <p:cNvPr id="4" name="TextBox 3"/>
          <p:cNvSpPr txBox="1"/>
          <p:nvPr/>
        </p:nvSpPr>
        <p:spPr>
          <a:xfrm>
            <a:off x="502920" y="365760"/>
            <a:ext cx="11155680" cy="420624"/>
          </a:xfrm>
          <a:prstGeom prst="rect">
            <a:avLst/>
          </a:prstGeom>
          <a:noFill/>
        </p:spPr>
        <p:txBody>
          <a:bodyPr wrap="square"/>
          <a:lstStyle/>
          <a:p>
            <a:r>
              <a:rPr sz="2600" b="1">
                <a:solidFill>
                  <a:srgbClr val="143242"/>
                </a:solidFill>
                <a:latin typeface="Calibri"/>
              </a:rPr>
              <a:t>Codes on the documents and the evidence</a:t>
            </a:r>
          </a:p>
        </p:txBody>
      </p:sp>
      <p:sp>
        <p:nvSpPr>
          <p:cNvPr id="5" name="Rectangle 4"/>
          <p:cNvSpPr/>
          <p:nvPr/>
        </p:nvSpPr>
        <p:spPr>
          <a:xfrm>
            <a:off x="502920" y="841248"/>
            <a:ext cx="11201400" cy="13716"/>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10528"/>
            <a:ext cx="8686800" cy="256032"/>
          </a:xfrm>
          <a:prstGeom prst="rect">
            <a:avLst/>
          </a:prstGeom>
          <a:noFill/>
        </p:spPr>
        <p:txBody>
          <a:bodyPr wrap="square"/>
          <a:lstStyle/>
          <a:p>
            <a:r>
              <a:rPr sz="1100" b="0">
                <a:solidFill>
                  <a:srgbClr val="4E5D67"/>
                </a:solidFill>
                <a:latin typeface="Calibri"/>
              </a:rPr>
              <a:t>Use case 5  ·  Procure-to-Pay payment control</a:t>
            </a:r>
          </a:p>
        </p:txBody>
      </p:sp>
      <p:sp>
        <p:nvSpPr>
          <p:cNvPr id="7" name="TextBox 6"/>
          <p:cNvSpPr txBox="1"/>
          <p:nvPr/>
        </p:nvSpPr>
        <p:spPr>
          <a:xfrm>
            <a:off x="9509760" y="6510528"/>
            <a:ext cx="2194560" cy="256032"/>
          </a:xfrm>
          <a:prstGeom prst="rect">
            <a:avLst/>
          </a:prstGeom>
          <a:noFill/>
        </p:spPr>
        <p:txBody>
          <a:bodyPr wrap="square"/>
          <a:lstStyle/>
          <a:p>
            <a:pPr algn="r"/>
            <a:r>
              <a:rPr sz="1100" b="0">
                <a:solidFill>
                  <a:srgbClr val="4E5D67"/>
                </a:solidFill>
                <a:latin typeface="Calibri"/>
              </a:rPr>
              <a:t>11  /  11</a:t>
            </a:r>
          </a:p>
        </p:txBody>
      </p:sp>
      <p:graphicFrame>
        <p:nvGraphicFramePr>
          <p:cNvPr id="8" name="Table 7"/>
          <p:cNvGraphicFramePr>
            <a:graphicFrameLocks noGrp="1"/>
          </p:cNvGraphicFramePr>
          <p:nvPr/>
        </p:nvGraphicFramePr>
        <p:xfrm>
          <a:off x="502920" y="987552"/>
          <a:ext cx="11155680" cy="3950208"/>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9189720">
                  <a:extLst>
                    <a:ext uri="{9D8B030D-6E8A-4147-A177-3AD203B41FA5}">
                      <a16:colId xmlns:a16="http://schemas.microsoft.com/office/drawing/2014/main" val="20001"/>
                    </a:ext>
                  </a:extLst>
                </a:gridCol>
              </a:tblGrid>
              <a:tr h="329184">
                <a:tc>
                  <a:txBody>
                    <a:bodyPr/>
                    <a:lstStyle/>
                    <a:p>
                      <a:pPr algn="l"/>
                      <a:r>
                        <a:rPr sz="1200" b="1">
                          <a:solidFill>
                            <a:srgbClr val="FFFFFF"/>
                          </a:solidFill>
                          <a:latin typeface="Calibri"/>
                        </a:rPr>
                        <a:t>Code</a:t>
                      </a:r>
                    </a:p>
                  </a:txBody>
                  <a:tcPr marL="73152" marR="54864" marT="27432" marB="27432" anchor="ctr">
                    <a:solidFill>
                      <a:srgbClr val="143242"/>
                    </a:solidFill>
                  </a:tcPr>
                </a:tc>
                <a:tc>
                  <a:txBody>
                    <a:bodyPr/>
                    <a:lstStyle/>
                    <a:p>
                      <a:pPr algn="l"/>
                      <a:r>
                        <a:rPr sz="1200" b="1">
                          <a:solidFill>
                            <a:srgbClr val="FFFFFF"/>
                          </a:solidFill>
                          <a:latin typeface="Calibri"/>
                        </a:rPr>
                        <a:t>What it means in this project</a:t>
                      </a:r>
                    </a:p>
                  </a:txBody>
                  <a:tcPr marL="73152" marR="54864" marT="27432" marB="27432" anchor="ctr">
                    <a:solidFill>
                      <a:srgbClr val="143242"/>
                    </a:solidFill>
                  </a:tcPr>
                </a:tc>
                <a:extLst>
                  <a:ext uri="{0D108BD9-81ED-4DB2-BD59-A6C34878D82A}">
                    <a16:rowId xmlns:a16="http://schemas.microsoft.com/office/drawing/2014/main" val="10000"/>
                  </a:ext>
                </a:extLst>
              </a:tr>
              <a:tr h="329184">
                <a:tc>
                  <a:txBody>
                    <a:bodyPr/>
                    <a:lstStyle/>
                    <a:p>
                      <a:pPr algn="l"/>
                      <a:r>
                        <a:rPr sz="1200" b="1">
                          <a:solidFill>
                            <a:srgbClr val="1C2833"/>
                          </a:solidFill>
                          <a:latin typeface="Calibri"/>
                        </a:rPr>
                        <a:t>D1 to D4</a:t>
                      </a:r>
                    </a:p>
                  </a:txBody>
                  <a:tcPr marL="73152" marR="54864" marT="27432" marB="27432" anchor="ctr">
                    <a:solidFill>
                      <a:srgbClr val="FFFFFF"/>
                    </a:solidFill>
                  </a:tcPr>
                </a:tc>
                <a:tc>
                  <a:txBody>
                    <a:bodyPr/>
                    <a:lstStyle/>
                    <a:p>
                      <a:pPr algn="l"/>
                      <a:r>
                        <a:rPr sz="1200" b="0">
                          <a:solidFill>
                            <a:srgbClr val="1C2833"/>
                          </a:solidFill>
                          <a:latin typeface="Calibri"/>
                        </a:rPr>
                        <a:t>The four hand-backs: the reading, the design, the requirements, and the app.</a:t>
                      </a:r>
                    </a:p>
                  </a:txBody>
                  <a:tcPr marL="73152"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200" b="1">
                          <a:solidFill>
                            <a:srgbClr val="1C2833"/>
                          </a:solidFill>
                          <a:latin typeface="Calibri"/>
                        </a:rPr>
                        <a:t>D3a / D3b</a:t>
                      </a:r>
                    </a:p>
                  </a:txBody>
                  <a:tcPr marL="73152" marR="54864" marT="27432" marB="27432" anchor="ctr">
                    <a:solidFill>
                      <a:srgbClr val="F4F7F8"/>
                    </a:solidFill>
                  </a:tcPr>
                </a:tc>
                <a:tc>
                  <a:txBody>
                    <a:bodyPr/>
                    <a:lstStyle/>
                    <a:p>
                      <a:pPr algn="l"/>
                      <a:r>
                        <a:rPr sz="1200" b="0">
                          <a:solidFill>
                            <a:srgbClr val="1C2833"/>
                          </a:solidFill>
                          <a:latin typeface="Calibri"/>
                        </a:rPr>
                        <a:t>D3a is this requirements version. D3b is the later note that must name the owners.</a:t>
                      </a:r>
                    </a:p>
                  </a:txBody>
                  <a:tcPr marL="73152" marR="54864" marT="27432" marB="27432" anchor="ctr">
                    <a:solidFill>
                      <a:srgbClr val="F4F7F8"/>
                    </a:solidFill>
                  </a:tcPr>
                </a:tc>
                <a:extLst>
                  <a:ext uri="{0D108BD9-81ED-4DB2-BD59-A6C34878D82A}">
                    <a16:rowId xmlns:a16="http://schemas.microsoft.com/office/drawing/2014/main" val="10002"/>
                  </a:ext>
                </a:extLst>
              </a:tr>
              <a:tr h="329184">
                <a:tc>
                  <a:txBody>
                    <a:bodyPr/>
                    <a:lstStyle/>
                    <a:p>
                      <a:pPr algn="l"/>
                      <a:r>
                        <a:rPr sz="1200" b="1">
                          <a:solidFill>
                            <a:srgbClr val="1C2833"/>
                          </a:solidFill>
                          <a:latin typeface="Calibri"/>
                        </a:rPr>
                        <a:t>PRD</a:t>
                      </a:r>
                    </a:p>
                  </a:txBody>
                  <a:tcPr marL="73152" marR="54864" marT="27432" marB="27432" anchor="ctr">
                    <a:solidFill>
                      <a:srgbClr val="FFFFFF"/>
                    </a:solidFill>
                  </a:tcPr>
                </a:tc>
                <a:tc>
                  <a:txBody>
                    <a:bodyPr/>
                    <a:lstStyle/>
                    <a:p>
                      <a:pPr algn="l"/>
                      <a:r>
                        <a:rPr sz="1200" b="0">
                          <a:solidFill>
                            <a:srgbClr val="1C2833"/>
                          </a:solidFill>
                          <a:latin typeface="Calibri"/>
                        </a:rPr>
                        <a:t>Product Requirements Document. The app implements version D3a.</a:t>
                      </a:r>
                    </a:p>
                  </a:txBody>
                  <a:tcPr marL="73152" marR="54864"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200" b="1">
                          <a:solidFill>
                            <a:srgbClr val="1C2833"/>
                          </a:solidFill>
                          <a:latin typeface="Calibri"/>
                        </a:rPr>
                        <a:t>ADR</a:t>
                      </a:r>
                    </a:p>
                  </a:txBody>
                  <a:tcPr marL="73152" marR="54864" marT="27432" marB="27432" anchor="ctr">
                    <a:solidFill>
                      <a:srgbClr val="F4F7F8"/>
                    </a:solidFill>
                  </a:tcPr>
                </a:tc>
                <a:tc>
                  <a:txBody>
                    <a:bodyPr/>
                    <a:lstStyle/>
                    <a:p>
                      <a:pPr algn="l"/>
                      <a:r>
                        <a:rPr sz="1200" b="0">
                          <a:solidFill>
                            <a:srgbClr val="1C2833"/>
                          </a:solidFill>
                          <a:latin typeface="Calibri"/>
                        </a:rPr>
                        <a:t>A short decision note. It records a number, the owner, and why.</a:t>
                      </a:r>
                    </a:p>
                  </a:txBody>
                  <a:tcPr marL="73152" marR="54864" marT="27432" marB="27432" anchor="ctr">
                    <a:solidFill>
                      <a:srgbClr val="F4F7F8"/>
                    </a:solidFill>
                  </a:tcPr>
                </a:tc>
                <a:extLst>
                  <a:ext uri="{0D108BD9-81ED-4DB2-BD59-A6C34878D82A}">
                    <a16:rowId xmlns:a16="http://schemas.microsoft.com/office/drawing/2014/main" val="10004"/>
                  </a:ext>
                </a:extLst>
              </a:tr>
              <a:tr h="329184">
                <a:tc>
                  <a:txBody>
                    <a:bodyPr/>
                    <a:lstStyle/>
                    <a:p>
                      <a:pPr algn="l"/>
                      <a:r>
                        <a:rPr sz="1200" b="1">
                          <a:solidFill>
                            <a:srgbClr val="1C2833"/>
                          </a:solidFill>
                          <a:latin typeface="Calibri"/>
                        </a:rPr>
                        <a:t>TBD</a:t>
                      </a:r>
                    </a:p>
                  </a:txBody>
                  <a:tcPr marL="73152" marR="54864" marT="27432" marB="27432" anchor="ctr">
                    <a:solidFill>
                      <a:srgbClr val="FFFFFF"/>
                    </a:solidFill>
                  </a:tcPr>
                </a:tc>
                <a:tc>
                  <a:txBody>
                    <a:bodyPr/>
                    <a:lstStyle/>
                    <a:p>
                      <a:pPr algn="l"/>
                      <a:r>
                        <a:rPr sz="1200" b="0">
                          <a:solidFill>
                            <a:srgbClr val="1C2833"/>
                          </a:solidFill>
                          <a:latin typeface="Calibri"/>
                        </a:rPr>
                        <a:t>The owner cell when no person is named. The P2P-05 owner is TBD.</a:t>
                      </a:r>
                    </a:p>
                  </a:txBody>
                  <a:tcPr marL="73152" marR="54864" marT="27432" marB="27432" anchor="ctr">
                    <a:solidFill>
                      <a:srgbClr val="FFFFFF"/>
                    </a:solidFill>
                  </a:tcPr>
                </a:tc>
                <a:extLst>
                  <a:ext uri="{0D108BD9-81ED-4DB2-BD59-A6C34878D82A}">
                    <a16:rowId xmlns:a16="http://schemas.microsoft.com/office/drawing/2014/main" val="10005"/>
                  </a:ext>
                </a:extLst>
              </a:tr>
              <a:tr h="329184">
                <a:tc>
                  <a:txBody>
                    <a:bodyPr/>
                    <a:lstStyle/>
                    <a:p>
                      <a:pPr algn="l"/>
                      <a:r>
                        <a:rPr sz="1200" b="1">
                          <a:solidFill>
                            <a:srgbClr val="1C2833"/>
                          </a:solidFill>
                          <a:latin typeface="Calibri"/>
                        </a:rPr>
                        <a:t>PROCESS</a:t>
                      </a:r>
                    </a:p>
                  </a:txBody>
                  <a:tcPr marL="73152" marR="54864" marT="27432" marB="27432" anchor="ctr">
                    <a:solidFill>
                      <a:srgbClr val="F4F7F8"/>
                    </a:solidFill>
                  </a:tcPr>
                </a:tc>
                <a:tc>
                  <a:txBody>
                    <a:bodyPr/>
                    <a:lstStyle/>
                    <a:p>
                      <a:pPr algn="l"/>
                      <a:r>
                        <a:rPr sz="1200" b="0">
                          <a:solidFill>
                            <a:srgbClr val="1C2833"/>
                          </a:solidFill>
                          <a:latin typeface="Calibri"/>
                        </a:rPr>
                        <a:t>The old result word. The later outcome words are APPROVE, REVIEW, and REJECT.</a:t>
                      </a:r>
                    </a:p>
                  </a:txBody>
                  <a:tcPr marL="73152" marR="54864" marT="27432" marB="27432" anchor="ctr">
                    <a:solidFill>
                      <a:srgbClr val="F4F7F8"/>
                    </a:solidFill>
                  </a:tcPr>
                </a:tc>
                <a:extLst>
                  <a:ext uri="{0D108BD9-81ED-4DB2-BD59-A6C34878D82A}">
                    <a16:rowId xmlns:a16="http://schemas.microsoft.com/office/drawing/2014/main" val="10006"/>
                  </a:ext>
                </a:extLst>
              </a:tr>
              <a:tr h="329184">
                <a:tc>
                  <a:txBody>
                    <a:bodyPr/>
                    <a:lstStyle/>
                    <a:p>
                      <a:pPr algn="l"/>
                      <a:r>
                        <a:rPr sz="1200" b="1">
                          <a:solidFill>
                            <a:srgbClr val="1C2833"/>
                          </a:solidFill>
                          <a:latin typeface="Calibri"/>
                        </a:rPr>
                        <a:t>WORM</a:t>
                      </a:r>
                    </a:p>
                  </a:txBody>
                  <a:tcPr marL="73152" marR="54864" marT="27432" marB="27432" anchor="ctr">
                    <a:solidFill>
                      <a:srgbClr val="FFFFFF"/>
                    </a:solidFill>
                  </a:tcPr>
                </a:tc>
                <a:tc>
                  <a:txBody>
                    <a:bodyPr/>
                    <a:lstStyle/>
                    <a:p>
                      <a:pPr algn="l"/>
                      <a:r>
                        <a:rPr sz="1200" b="0">
                          <a:solidFill>
                            <a:srgbClr val="1C2833"/>
                          </a:solidFill>
                          <a:latin typeface="Calibri"/>
                        </a:rPr>
                        <a:t>Write once, read many. After lock, delete and overwrite are refused.</a:t>
                      </a:r>
                    </a:p>
                  </a:txBody>
                  <a:tcPr marL="73152" marR="54864" marT="27432" marB="27432" anchor="ctr">
                    <a:solidFill>
                      <a:srgbClr val="FFFFFF"/>
                    </a:solidFill>
                  </a:tcPr>
                </a:tc>
                <a:extLst>
                  <a:ext uri="{0D108BD9-81ED-4DB2-BD59-A6C34878D82A}">
                    <a16:rowId xmlns:a16="http://schemas.microsoft.com/office/drawing/2014/main" val="10007"/>
                  </a:ext>
                </a:extLst>
              </a:tr>
              <a:tr h="329184">
                <a:tc>
                  <a:txBody>
                    <a:bodyPr/>
                    <a:lstStyle/>
                    <a:p>
                      <a:pPr algn="l"/>
                      <a:r>
                        <a:rPr sz="1200" b="1">
                          <a:solidFill>
                            <a:srgbClr val="1C2833"/>
                          </a:solidFill>
                          <a:latin typeface="Calibri"/>
                        </a:rPr>
                        <a:t>PR-AUC</a:t>
                      </a:r>
                    </a:p>
                  </a:txBody>
                  <a:tcPr marL="73152" marR="54864" marT="27432" marB="27432" anchor="ctr">
                    <a:solidFill>
                      <a:srgbClr val="F4F7F8"/>
                    </a:solidFill>
                  </a:tcPr>
                </a:tc>
                <a:tc>
                  <a:txBody>
                    <a:bodyPr/>
                    <a:lstStyle/>
                    <a:p>
                      <a:pPr algn="l"/>
                      <a:r>
                        <a:rPr sz="1200" b="0">
                          <a:solidFill>
                            <a:srgbClr val="1C2833"/>
                          </a:solidFill>
                          <a:latin typeface="Calibri"/>
                        </a:rPr>
                        <a:t>A ranking score that pays extra attention to the rare bad class. It is Missing here.</a:t>
                      </a:r>
                    </a:p>
                  </a:txBody>
                  <a:tcPr marL="73152" marR="54864" marT="27432" marB="27432" anchor="ctr">
                    <a:solidFill>
                      <a:srgbClr val="F4F7F8"/>
                    </a:solidFill>
                  </a:tcPr>
                </a:tc>
                <a:extLst>
                  <a:ext uri="{0D108BD9-81ED-4DB2-BD59-A6C34878D82A}">
                    <a16:rowId xmlns:a16="http://schemas.microsoft.com/office/drawing/2014/main" val="10008"/>
                  </a:ext>
                </a:extLst>
              </a:tr>
              <a:tr h="329184">
                <a:tc>
                  <a:txBody>
                    <a:bodyPr/>
                    <a:lstStyle/>
                    <a:p>
                      <a:pPr algn="l"/>
                      <a:r>
                        <a:rPr sz="1200" b="1">
                          <a:solidFill>
                            <a:srgbClr val="1C2833"/>
                          </a:solidFill>
                          <a:latin typeface="Calibri"/>
                        </a:rPr>
                        <a:t>USD</a:t>
                      </a:r>
                    </a:p>
                  </a:txBody>
                  <a:tcPr marL="73152" marR="54864" marT="27432" marB="27432" anchor="ctr">
                    <a:solidFill>
                      <a:srgbClr val="FFFFFF"/>
                    </a:solidFill>
                  </a:tcPr>
                </a:tc>
                <a:tc>
                  <a:txBody>
                    <a:bodyPr/>
                    <a:lstStyle/>
                    <a:p>
                      <a:pPr algn="l"/>
                      <a:r>
                        <a:rPr sz="1200" b="0">
                          <a:solidFill>
                            <a:srgbClr val="1C2833"/>
                          </a:solidFill>
                          <a:latin typeface="Calibri"/>
                        </a:rPr>
                        <a:t>The currency code on all four inherited invoices.</a:t>
                      </a:r>
                    </a:p>
                  </a:txBody>
                  <a:tcPr marL="73152" marR="54864" marT="27432" marB="27432" anchor="ctr">
                    <a:solidFill>
                      <a:srgbClr val="FFFFFF"/>
                    </a:solidFill>
                  </a:tcPr>
                </a:tc>
                <a:extLst>
                  <a:ext uri="{0D108BD9-81ED-4DB2-BD59-A6C34878D82A}">
                    <a16:rowId xmlns:a16="http://schemas.microsoft.com/office/drawing/2014/main" val="10009"/>
                  </a:ext>
                </a:extLst>
              </a:tr>
              <a:tr h="329184">
                <a:tc>
                  <a:txBody>
                    <a:bodyPr/>
                    <a:lstStyle/>
                    <a:p>
                      <a:pPr algn="l"/>
                      <a:r>
                        <a:rPr sz="1200" b="1">
                          <a:solidFill>
                            <a:srgbClr val="1C2833"/>
                          </a:solidFill>
                          <a:latin typeface="Calibri"/>
                        </a:rPr>
                        <a:t>ERP</a:t>
                      </a:r>
                    </a:p>
                  </a:txBody>
                  <a:tcPr marL="73152" marR="54864" marT="27432" marB="27432" anchor="ctr">
                    <a:solidFill>
                      <a:srgbClr val="F4F7F8"/>
                    </a:solidFill>
                  </a:tcPr>
                </a:tc>
                <a:tc>
                  <a:txBody>
                    <a:bodyPr/>
                    <a:lstStyle/>
                    <a:p>
                      <a:pPr algn="l"/>
                      <a:r>
                        <a:rPr sz="1200" b="0">
                          <a:solidFill>
                            <a:srgbClr val="1C2833"/>
                          </a:solidFill>
                          <a:latin typeface="Calibri"/>
                        </a:rPr>
                        <a:t>Named in use case 5. The company system that stores the buy records and the payments.</a:t>
                      </a:r>
                    </a:p>
                  </a:txBody>
                  <a:tcPr marL="73152" marR="54864" marT="27432" marB="27432" anchor="ctr">
                    <a:solidFill>
                      <a:srgbClr val="F4F7F8"/>
                    </a:solidFill>
                  </a:tcPr>
                </a:tc>
                <a:extLst>
                  <a:ext uri="{0D108BD9-81ED-4DB2-BD59-A6C34878D82A}">
                    <a16:rowId xmlns:a16="http://schemas.microsoft.com/office/drawing/2014/main" val="10010"/>
                  </a:ext>
                </a:extLst>
              </a:tr>
              <a:tr h="329184">
                <a:tc>
                  <a:txBody>
                    <a:bodyPr/>
                    <a:lstStyle/>
                    <a:p>
                      <a:pPr algn="l"/>
                      <a:r>
                        <a:rPr sz="1200" b="1">
                          <a:solidFill>
                            <a:srgbClr val="1C2833"/>
                          </a:solidFill>
                          <a:latin typeface="Calibri"/>
                        </a:rPr>
                        <a:t>C-01 to C-03</a:t>
                      </a:r>
                    </a:p>
                  </a:txBody>
                  <a:tcPr marL="73152" marR="54864" marT="27432" marB="27432" anchor="ctr">
                    <a:solidFill>
                      <a:srgbClr val="FFFFFF"/>
                    </a:solidFill>
                  </a:tcPr>
                </a:tc>
                <a:tc>
                  <a:txBody>
                    <a:bodyPr/>
                    <a:lstStyle/>
                    <a:p>
                      <a:pPr algn="l"/>
                      <a:r>
                        <a:rPr sz="1200" b="0">
                          <a:solidFill>
                            <a:srgbClr val="1C2833"/>
                          </a:solidFill>
                          <a:latin typeface="Calibri"/>
                        </a:rPr>
                        <a:t>Conflict ids in the As-Is reading. C-01 is the 5,000 clash. C-03 is CH-88.</a:t>
                      </a:r>
                    </a:p>
                  </a:txBody>
                  <a:tcPr marL="73152" marR="54864" marT="27432" marB="27432" anchor="ct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9912</Words>
  <Application>Microsoft Office PowerPoint</Application>
  <PresentationFormat>Widescreen</PresentationFormat>
  <Paragraphs>312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case 5 — Procure-to-Pay payment control</dc:title>
  <dc:subject>Team presentation of D1, Repo 2.0, the requirements document, and the demo</dc:subject>
  <dc:creator/>
  <cp:keywords/>
  <dc:description>generated using python-pptx</dc:description>
  <cp:lastModifiedBy>Mangesh Umbrajkar</cp:lastModifiedBy>
  <cp:revision>3</cp:revision>
  <dcterms:created xsi:type="dcterms:W3CDTF">2013-01-27T09:14:16Z</dcterms:created>
  <dcterms:modified xsi:type="dcterms:W3CDTF">2026-09-23T00:50:53Z</dcterms:modified>
  <cp:category>Sprint 2 capstone</cp:category>
</cp:coreProperties>
</file>